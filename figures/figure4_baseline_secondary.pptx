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5759450" cy="47879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5774"/>
    <a:srgbClr val="843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2699" y="1143000"/>
            <a:ext cx="371260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1572840" y="1143000"/>
            <a:ext cx="371232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575945" rtl="0" eaLnBrk="1" latinLnBrk="0" hangingPunct="1">
        <a:spcBef>
          <a:spcPct val="0"/>
        </a:spcBef>
        <a:buNone/>
        <a:defRPr sz="27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2015" kern="1200">
          <a:solidFill>
            <a:schemeClr val="tx1"/>
          </a:solidFill>
          <a:latin typeface="+mn-lt"/>
          <a:ea typeface="+mn-ea"/>
          <a:cs typeface="+mn-cs"/>
        </a:defRPr>
      </a:lvl1pPr>
      <a:lvl2pPr marL="467995" indent="-17970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3pPr>
      <a:lvl4pPr marL="100774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9603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»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5836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87198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44792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1pPr>
      <a:lvl2pPr marL="2882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7594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3pPr>
      <a:lvl4pPr marL="8642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1518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4401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7278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01612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3037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slide1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 name=""><p:spTree>
    <p:nvGrpSpPr><p:cNvPr id="1" name=""/><p:cNvGrpSpPr/><p:nvPr/></p:nvGrpSpPr>
    <p:grpSpPr/>
    
<p:sp>
  <p:nvSpPr><p:cNvPr id="10" name="Shape 10"/>
    <p:cNvSpPr/><p:nvPr/></p:nvSpPr>
  <p:spPr>
    <a:xfrm><a:off x="320040" y="164592"/><a:ext cx="11475720" cy="384048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2100" b="1"><a:solidFill><a:srgbClr val="20252A"/></a:solidFill><a:latin typeface="Arial"/></a:rPr><a:t>Figure 4  |  Baseline Secondary Metrics</a:t></a:r></a:p>
  </p:txBody>
</p:sp>

<p:sp>
  <p:nvSpPr><p:cNvPr id="11" name="Shape 11"/>
    <p:cNvSpPr/><p:nvPr/></p:nvSpPr>
  <p:spPr>
    <a:xfrm><a:off x="411480" y="777240"/><a:ext cx="5440680" cy="2148840"/></a:xfrm>
    <a:prstGeom prst="rect"><a:avLst/></a:prstGeom>
    <a:ln w="635"><a:solidFill><a:srgbClr val="D0D5D9"/></a:solidFill></a:ln>
    <a:solidFill><a:srgbClr val="F9FAFB"/></a:solidFill>
  </p:spPr>
  <p:txBody><a:bodyPr wrap="square" rtlCol="0" anchor="ctr"/>
    <a:lstStyle/><a:p><a:pPr algn="ctr"/><a:r><a:rPr lang="en-US" sz="1250" b="1"><a:solidFill><a:srgbClr val="20252A"/></a:solidFill><a:latin typeface="Arial"/></a:rPr><a:t>(a) SCR</a:t></a:r></a:p><a:p><a:rPr lang="en-US" sz="1250" b="1"><a:solidFill><a:srgbClr val="20252A"/></a:solidFill><a:latin typeface="Arial"/></a:rPr><a:t>all plotted values: ***</a:t></a:r></a:p>
  </p:txBody>
</p:sp>

<p:sp>
  <p:nvSpPr><p:cNvPr id="12" name="Line 12"/>
    <p:cNvSpPr/><p:nvPr/></p:nvSpPr>
  <p:spPr>
    <a:xfrm><a:off x="822960" y="2441448"/>
      <a:ext cx="4754880" cy="0"/></a:xfrm>
    <a:prstGeom prst="line"><a:avLst/></a:prstGeom>
    <a:ln w="7000"><a:solidFill><a:srgbClr val="20252A"/></a:solidFill>
      <a:tailEnd type="triangle" w="sm" len="sm"/></a:ln>
  </p:spPr>
</p:sp>

<p:sp>
  <p:nvSpPr><p:cNvPr id="13" name="Line 13"/>
    <p:cNvSpPr/><p:nvPr/></p:nvSpPr>
  <p:spPr>
    <a:xfrm><a:off x="822960" y="2441448"/>
      <a:ext cx="0" cy="-1316736"/></a:xfrm>
    <a:prstGeom prst="line"><a:avLst/></a:prstGeom>
    <a:ln w="7000"><a:solidFill><a:srgbClr val="20252A"/></a:solidFill>
      <a:tailEnd type="triangle" w="sm" len="sm"/></a:ln>
  </p:spPr>
</p:sp>

<p:sp>
  <p:nvSpPr><p:cNvPr id="14" name="Line 14"/>
    <p:cNvSpPr/><p:nvPr/></p:nvSpPr>
  <p:spPr>
    <a:xfrm><a:off x="1005840" y="1691640"/>
      <a:ext cx="4251960" cy="0"/></a:xfrm>
    <a:prstGeom prst="line"><a:avLst/></a:prstGeom>
    <a:ln w="9000"><a:solidFill><a:srgbClr val="356FA8"/></a:solidFill>
      <a:tailEnd type="triangle" w="sm" len="sm"/></a:ln>
  </p:spPr>
</p:sp>

<p:sp>
  <p:nvSpPr><p:cNvPr id="15" name="Line 15"/>
    <p:cNvSpPr/><p:nvPr/></p:nvSpPr>
  <p:spPr>
    <a:xfrm><a:off x="1005840" y="1810512"/>
      <a:ext cx="4251960" cy="0"/></a:xfrm>
    <a:prstGeom prst="line"><a:avLst/></a:prstGeom>
    <a:ln w="9000"><a:solidFill><a:srgbClr val="6F7C86"/></a:solidFill>
      <a:prstDash val="dash"/><a:tailEnd type="triangle" w="sm" len="sm"/></a:ln>
  </p:spPr>
</p:sp>

<p:sp>
  <p:nvSpPr><p:cNvPr id="16" name="Line 16"/>
    <p:cNvSpPr/><p:nvPr/></p:nvSpPr>
  <p:spPr>
    <a:xfrm><a:off x="1005840" y="1929384"/>
      <a:ext cx="4251960" cy="0"/></a:xfrm>
    <a:prstGeom prst="line"><a:avLst/></a:prstGeom>
    <a:ln w="9000"><a:solidFill><a:srgbClr val="9A6A43"/></a:solidFill>
      <a:prstDash val="dash"/><a:tailEnd type="triangle" w="sm" len="sm"/></a:ln>
  </p:spPr>
</p:sp>

<p:sp>
  <p:nvSpPr><p:cNvPr id="17" name="Line 17"/>
    <p:cNvSpPr/><p:nvPr/></p:nvSpPr>
  <p:spPr>
    <a:xfrm><a:off x="1005840" y="2048256"/>
      <a:ext cx="4251960" cy="0"/></a:xfrm>
    <a:prstGeom prst="line"><a:avLst/></a:prstGeom>
    <a:ln w="9000"><a:solidFill><a:srgbClr val="7658A5"/></a:solidFill>
      <a:prstDash val="dash"/><a:tailEnd type="triangle" w="sm" len="sm"/></a:ln>
  </p:spPr>
</p:sp>

<p:sp>
  <p:nvSpPr><p:cNvPr id="18" name="Shape 18"/>
    <p:cNvSpPr/><p:nvPr/></p:nvSpPr>
  <p:spPr>
    <a:xfrm><a:off x="6309360" y="777240"/><a:ext cx="5440680" cy="2148840"/></a:xfrm>
    <a:prstGeom prst="rect"><a:avLst/></a:prstGeom>
    <a:ln w="635"><a:solidFill><a:srgbClr val="D0D5D9"/></a:solidFill></a:ln>
    <a:solidFill><a:srgbClr val="F9FAFB"/></a:solidFill>
  </p:spPr>
  <p:txBody><a:bodyPr wrap="square" rtlCol="0" anchor="ctr"/>
    <a:lstStyle/><a:p><a:pPr algn="ctr"/><a:r><a:rPr lang="en-US" sz="1250" b="1"><a:solidFill><a:srgbClr val="20252A"/></a:solidFill><a:latin typeface="Arial"/></a:rPr><a:t>(b) Makespan</a:t></a:r></a:p><a:p><a:rPr lang="en-US" sz="1250" b="1"><a:solidFill><a:srgbClr val="20252A"/></a:solidFill><a:latin typeface="Arial"/></a:rPr><a:t>all plotted values: ***</a:t></a:r></a:p>
  </p:txBody>
</p:sp>

<p:sp>
  <p:nvSpPr><p:cNvPr id="19" name="Line 19"/>
    <p:cNvSpPr/><p:nvPr/></p:nvSpPr>
  <p:spPr>
    <a:xfrm><a:off x="6720840" y="2441448"/>
      <a:ext cx="4754880" cy="0"/></a:xfrm>
    <a:prstGeom prst="line"><a:avLst/></a:prstGeom>
    <a:ln w="7000"><a:solidFill><a:srgbClr val="20252A"/></a:solidFill>
      <a:tailEnd type="triangle" w="sm" len="sm"/></a:ln>
  </p:spPr>
</p:sp>

<p:sp>
  <p:nvSpPr><p:cNvPr id="20" name="Line 20"/>
    <p:cNvSpPr/><p:nvPr/></p:nvSpPr>
  <p:spPr>
    <a:xfrm><a:off x="6720840" y="2441448"/>
      <a:ext cx="0" cy="-1316736"/></a:xfrm>
    <a:prstGeom prst="line"><a:avLst/></a:prstGeom>
    <a:ln w="7000"><a:solidFill><a:srgbClr val="20252A"/></a:solidFill>
      <a:tailEnd type="triangle" w="sm" len="sm"/></a:ln>
  </p:spPr>
</p:sp>

<p:sp>
  <p:nvSpPr><p:cNvPr id="21" name="Line 21"/>
    <p:cNvSpPr/><p:nvPr/></p:nvSpPr>
  <p:spPr>
    <a:xfrm><a:off x="6903720" y="1691640"/>
      <a:ext cx="4251959" cy="0"/></a:xfrm>
    <a:prstGeom prst="line"><a:avLst/></a:prstGeom>
    <a:ln w="9000"><a:solidFill><a:srgbClr val="356FA8"/></a:solidFill>
      <a:tailEnd type="triangle" w="sm" len="sm"/></a:ln>
  </p:spPr>
</p:sp>

<p:sp>
  <p:nvSpPr><p:cNvPr id="22" name="Line 22"/>
    <p:cNvSpPr/><p:nvPr/></p:nvSpPr>
  <p:spPr>
    <a:xfrm><a:off x="6903720" y="1810512"/>
      <a:ext cx="4251959" cy="0"/></a:xfrm>
    <a:prstGeom prst="line"><a:avLst/></a:prstGeom>
    <a:ln w="9000"><a:solidFill><a:srgbClr val="6F7C86"/></a:solidFill>
      <a:prstDash val="dash"/><a:tailEnd type="triangle" w="sm" len="sm"/></a:ln>
  </p:spPr>
</p:sp>

<p:sp>
  <p:nvSpPr><p:cNvPr id="23" name="Line 23"/>
    <p:cNvSpPr/><p:nvPr/></p:nvSpPr>
  <p:spPr>
    <a:xfrm><a:off x="6903720" y="1929384"/>
      <a:ext cx="4251959" cy="0"/></a:xfrm>
    <a:prstGeom prst="line"><a:avLst/></a:prstGeom>
    <a:ln w="9000"><a:solidFill><a:srgbClr val="9A6A43"/></a:solidFill>
      <a:prstDash val="dash"/><a:tailEnd type="triangle" w="sm" len="sm"/></a:ln>
  </p:spPr>
</p:sp>

<p:sp>
  <p:nvSpPr><p:cNvPr id="24" name="Line 24"/>
    <p:cNvSpPr/><p:nvPr/></p:nvSpPr>
  <p:spPr>
    <a:xfrm><a:off x="6903720" y="2048256"/>
      <a:ext cx="4251959" cy="0"/></a:xfrm>
    <a:prstGeom prst="line"><a:avLst/></a:prstGeom>
    <a:ln w="9000"><a:solidFill><a:srgbClr val="7658A5"/></a:solidFill>
      <a:prstDash val="dash"/><a:tailEnd type="triangle" w="sm" len="sm"/></a:ln>
  </p:spPr>
</p:sp>

<p:sp>
  <p:nvSpPr><p:cNvPr id="25" name="Shape 25"/>
    <p:cNvSpPr/><p:nvPr/></p:nvSpPr>
  <p:spPr>
    <a:xfrm><a:off x="411480" y="3520440"/><a:ext cx="5440680" cy="2148840"/></a:xfrm>
    <a:prstGeom prst="rect"><a:avLst/></a:prstGeom>
    <a:ln w="635"><a:solidFill><a:srgbClr val="D0D5D9"/></a:solidFill></a:ln>
    <a:solidFill><a:srgbClr val="F9FAFB"/></a:solidFill>
  </p:spPr>
  <p:txBody><a:bodyPr wrap="square" rtlCol="0" anchor="ctr"/>
    <a:lstStyle/><a:p><a:pPr algn="ctr"/><a:r><a:rPr lang="en-US" sz="1250" b="1"><a:solidFill><a:srgbClr val="20252A"/></a:solidFill><a:latin typeface="Arial"/></a:rPr><a:t>(c) Semantic Reasoning Time Ratio</a:t></a:r></a:p><a:p><a:rPr lang="en-US" sz="1250" b="1"><a:solidFill><a:srgbClr val="20252A"/></a:solidFill><a:latin typeface="Arial"/></a:rPr><a:t>all plotted values: ***</a:t></a:r></a:p>
  </p:txBody>
</p:sp>

<p:sp>
  <p:nvSpPr><p:cNvPr id="26" name="Line 26"/>
    <p:cNvSpPr/><p:nvPr/></p:nvSpPr>
  <p:spPr>
    <a:xfrm><a:off x="822960" y="5184648"/>
      <a:ext cx="4754880" cy="0"/></a:xfrm>
    <a:prstGeom prst="line"><a:avLst/></a:prstGeom>
    <a:ln w="7000"><a:solidFill><a:srgbClr val="20252A"/></a:solidFill>
      <a:tailEnd type="triangle" w="sm" len="sm"/></a:ln>
  </p:spPr>
</p:sp>

<p:sp>
  <p:nvSpPr><p:cNvPr id="27" name="Line 27"/>
    <p:cNvSpPr/><p:nvPr/></p:nvSpPr>
  <p:spPr>
    <a:xfrm><a:off x="822960" y="5184648"/>
      <a:ext cx="0" cy="-1316735"/></a:xfrm>
    <a:prstGeom prst="line"><a:avLst/></a:prstGeom>
    <a:ln w="7000"><a:solidFill><a:srgbClr val="20252A"/></a:solidFill>
      <a:tailEnd type="triangle" w="sm" len="sm"/></a:ln>
  </p:spPr>
</p:sp>

<p:sp>
  <p:nvSpPr><p:cNvPr id="28" name="Line 28"/>
    <p:cNvSpPr/><p:nvPr/></p:nvSpPr>
  <p:spPr>
    <a:xfrm><a:off x="1005840" y="4434840"/>
      <a:ext cx="4251960" cy="0"/></a:xfrm>
    <a:prstGeom prst="line"><a:avLst/></a:prstGeom>
    <a:ln w="9000"><a:solidFill><a:srgbClr val="356FA8"/></a:solidFill>
      <a:tailEnd type="triangle" w="sm" len="sm"/></a:ln>
  </p:spPr>
</p:sp>

<p:sp>
  <p:nvSpPr><p:cNvPr id="29" name="Line 29"/>
    <p:cNvSpPr/><p:nvPr/></p:nvSpPr>
  <p:spPr>
    <a:xfrm><a:off x="1005840" y="4553712"/>
      <a:ext cx="4251960" cy="0"/></a:xfrm>
    <a:prstGeom prst="line"><a:avLst/></a:prstGeom>
    <a:ln w="9000"><a:solidFill><a:srgbClr val="6F7C86"/></a:solidFill>
      <a:prstDash val="dash"/><a:tailEnd type="triangle" w="sm" len="sm"/></a:ln>
  </p:spPr>
</p:sp>

<p:sp>
  <p:nvSpPr><p:cNvPr id="30" name="Line 30"/>
    <p:cNvSpPr/><p:nvPr/></p:nvSpPr>
  <p:spPr>
    <a:xfrm><a:off x="1005840" y="4672583"/>
      <a:ext cx="4251960" cy="0"/></a:xfrm>
    <a:prstGeom prst="line"><a:avLst/></a:prstGeom>
    <a:ln w="9000"><a:solidFill><a:srgbClr val="9A6A43"/></a:solidFill>
      <a:prstDash val="dash"/><a:tailEnd type="triangle" w="sm" len="sm"/></a:ln>
  </p:spPr>
</p:sp>

<p:sp>
  <p:nvSpPr><p:cNvPr id="31" name="Line 31"/>
    <p:cNvSpPr/><p:nvPr/></p:nvSpPr>
  <p:spPr>
    <a:xfrm><a:off x="1005840" y="4791455"/>
      <a:ext cx="4251960" cy="0"/></a:xfrm>
    <a:prstGeom prst="line"><a:avLst/></a:prstGeom>
    <a:ln w="9000"><a:solidFill><a:srgbClr val="7658A5"/></a:solidFill>
      <a:prstDash val="dash"/><a:tailEnd type="triangle" w="sm" len="sm"/></a:ln>
  </p:spPr>
</p:sp>

<p:sp>
  <p:nvSpPr><p:cNvPr id="32" name="Shape 32"/>
    <p:cNvSpPr/><p:nvPr/></p:nvSpPr>
  <p:spPr>
    <a:xfrm><a:off x="6309360" y="3520440"/><a:ext cx="5440680" cy="2148840"/></a:xfrm>
    <a:prstGeom prst="rect"><a:avLst/></a:prstGeom>
    <a:ln w="635"><a:solidFill><a:srgbClr val="D0D5D9"/></a:solidFill></a:ln>
    <a:solidFill><a:srgbClr val="F9FAFB"/></a:solidFill>
  </p:spPr>
  <p:txBody><a:bodyPr wrap="square" rtlCol="0" anchor="ctr"/>
    <a:lstStyle/><a:p><a:pPr algn="ctr"/><a:r><a:rPr lang="en-US" sz="1250" b="1"><a:solidFill><a:srgbClr val="20252A"/></a:solidFill><a:latin typeface="Arial"/></a:rPr><a:t>(d) LLM Cost</a:t></a:r></a:p><a:p><a:rPr lang="en-US" sz="1250" b="1"><a:solidFill><a:srgbClr val="20252A"/></a:solidFill><a:latin typeface="Arial"/></a:rPr><a:t>all plotted values: ***</a:t></a:r></a:p>
  </p:txBody>
</p:sp>

<p:sp>
  <p:nvSpPr><p:cNvPr id="33" name="Line 33"/>
    <p:cNvSpPr/><p:nvPr/></p:nvSpPr>
  <p:spPr>
    <a:xfrm><a:off x="6720840" y="5184648"/>
      <a:ext cx="4754880" cy="0"/></a:xfrm>
    <a:prstGeom prst="line"><a:avLst/></a:prstGeom>
    <a:ln w="7000"><a:solidFill><a:srgbClr val="20252A"/></a:solidFill>
      <a:tailEnd type="triangle" w="sm" len="sm"/></a:ln>
  </p:spPr>
</p:sp>

<p:sp>
  <p:nvSpPr><p:cNvPr id="34" name="Line 34"/>
    <p:cNvSpPr/><p:nvPr/></p:nvSpPr>
  <p:spPr>
    <a:xfrm><a:off x="6720840" y="5184648"/>
      <a:ext cx="0" cy="-1316735"/></a:xfrm>
    <a:prstGeom prst="line"><a:avLst/></a:prstGeom>
    <a:ln w="7000"><a:solidFill><a:srgbClr val="20252A"/></a:solidFill>
      <a:tailEnd type="triangle" w="sm" len="sm"/></a:ln>
  </p:spPr>
</p:sp>

<p:sp>
  <p:nvSpPr><p:cNvPr id="35" name="Line 35"/>
    <p:cNvSpPr/><p:nvPr/></p:nvSpPr>
  <p:spPr>
    <a:xfrm><a:off x="6903720" y="4434840"/>
      <a:ext cx="4251959" cy="0"/></a:xfrm>
    <a:prstGeom prst="line"><a:avLst/></a:prstGeom>
    <a:ln w="9000"><a:solidFill><a:srgbClr val="356FA8"/></a:solidFill>
      <a:tailEnd type="triangle" w="sm" len="sm"/></a:ln>
  </p:spPr>
</p:sp>

<p:sp>
  <p:nvSpPr><p:cNvPr id="36" name="Line 36"/>
    <p:cNvSpPr/><p:nvPr/></p:nvSpPr>
  <p:spPr>
    <a:xfrm><a:off x="6903720" y="4553712"/>
      <a:ext cx="4251959" cy="0"/></a:xfrm>
    <a:prstGeom prst="line"><a:avLst/></a:prstGeom>
    <a:ln w="9000"><a:solidFill><a:srgbClr val="6F7C86"/></a:solidFill>
      <a:prstDash val="dash"/><a:tailEnd type="triangle" w="sm" len="sm"/></a:ln>
  </p:spPr>
</p:sp>

<p:sp>
  <p:nvSpPr><p:cNvPr id="37" name="Line 37"/>
    <p:cNvSpPr/><p:nvPr/></p:nvSpPr>
  <p:spPr>
    <a:xfrm><a:off x="6903720" y="4672583"/>
      <a:ext cx="4251959" cy="0"/></a:xfrm>
    <a:prstGeom prst="line"><a:avLst/></a:prstGeom>
    <a:ln w="9000"><a:solidFill><a:srgbClr val="9A6A43"/></a:solidFill>
      <a:prstDash val="dash"/><a:tailEnd type="triangle" w="sm" len="sm"/></a:ln>
  </p:spPr>
</p:sp>

<p:sp>
  <p:nvSpPr><p:cNvPr id="38" name="Line 38"/>
    <p:cNvSpPr/><p:nvPr/></p:nvSpPr>
  <p:spPr>
    <a:xfrm><a:off x="6903720" y="4791455"/>
      <a:ext cx="4251959" cy="0"/></a:xfrm>
    <a:prstGeom prst="line"><a:avLst/></a:prstGeom>
    <a:ln w="9000"><a:solidFill><a:srgbClr val="7658A5"/></a:solidFill>
      <a:prstDash val="dash"/><a:tailEnd type="triangle" w="sm" len="sm"/></a:ln>
  </p:spPr>
</p:sp>

  </p:spTree></p:cSld>
  <p:clrMapOvr><a:masterClrMapping/></p:clrMapOvr>
</p:sld>
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WPS 演示</Application>
  <PresentationFormat>On-screen Show (16:9)</PresentationFormat>
  <Paragraphs>51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Arimo</vt:lpstr>
      <vt:lpstr>FFont-Family</vt:lpstr>
      <vt:lpstr>Arimo</vt:lpstr>
      <vt:lpstr>Arimo</vt:lpstr>
      <vt:lpstr>Arial</vt:lpstr>
      <vt:lpstr>Calibri</vt:lpstr>
      <vt:lpstr>微软雅黑</vt:lpstr>
      <vt:lpstr>Arial Unicode MS</vt:lpstr>
      <vt:lpstr>等线</vt:lpstr>
      <vt:lpstr>MingLiU-ExtB</vt:lpstr>
      <vt:lpstr>Calibri</vt:lpstr>
      <vt:lpstr>Times New Roman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— Role-Shared Semantic Coordination</dc:title>
  <dc:creator>OpenAI</dc:creator>
  <dc:subject>Editable conversion of Figure 1</dc:subject>
  <cp:lastModifiedBy>薛建阳</cp:lastModifiedBy>
  <cp:revision>38</cp:revision>
  <dcterms:created xsi:type="dcterms:W3CDTF">2026-09-07T04:43:00Z</dcterms:created>
  <dcterms:modified xsi:type="dcterms:W3CDTF">2026-09-09T14:30:22Z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AD73301BFDED4614829CAB9534A26489_13</vt:lpwstr>
  </property>
  <property fmtid="{D5CDD505-2E9C-101B-9397-08002B2CF9AE}" pid="3" name="KSOProductBuildVer">
    <vt:lpwstr>2052-12.1.0.28505</vt:lpwstr>
  </property>
</Properties>
</file>