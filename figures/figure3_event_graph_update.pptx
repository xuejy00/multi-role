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</p:sldIdLst>
  <p:sldSz cx="5759450" cy="47879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5774"/>
    <a:srgbClr val="843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72699" y="1143000"/>
            <a:ext cx="371260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1572840" y="1143000"/>
            <a:ext cx="3712320" cy="30859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575945" rtl="0" eaLnBrk="1" latinLnBrk="0" hangingPunct="1">
        <a:spcBef>
          <a:spcPct val="0"/>
        </a:spcBef>
        <a:buNone/>
        <a:defRPr sz="27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2015" kern="1200">
          <a:solidFill>
            <a:schemeClr val="tx1"/>
          </a:solidFill>
          <a:latin typeface="+mn-lt"/>
          <a:ea typeface="+mn-ea"/>
          <a:cs typeface="+mn-cs"/>
        </a:defRPr>
      </a:lvl1pPr>
      <a:lvl2pPr marL="467995" indent="-179705" algn="l" defTabSz="575945" rtl="0" eaLnBrk="1" latinLnBrk="0" hangingPunct="1">
        <a:spcBef>
          <a:spcPts val="60"/>
        </a:spcBef>
        <a:buFont typeface="Arial" panose="020B0604020202020204" pitchFamily="34" charset="0"/>
        <a:buChar char="–"/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3pPr>
      <a:lvl4pPr marL="100774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–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9603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»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58369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87198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44792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1pPr>
      <a:lvl2pPr marL="2882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2pPr>
      <a:lvl3pPr marL="57594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3pPr>
      <a:lvl4pPr marL="8642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4pPr>
      <a:lvl5pPr marL="11518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5pPr>
      <a:lvl6pPr marL="14401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6pPr>
      <a:lvl7pPr marL="17278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7pPr>
      <a:lvl8pPr marL="201612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8pPr>
      <a:lvl9pPr marL="23037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0" name="Shape 10"/>
          <p:cNvSpPr/>
          <p:nvPr/>
        </p:nvSpPr>
        <p:spPr>
          <a:xfrm>
            <a:off x="320040" y="164592"/>
            <a:ext cx="11475720" cy="384048"/>
          </a:xfrm>
          <a:prstGeom prst="rect">
            <a:avLst/>
          </a:prstGeom>
          <a:ln w="635">
            <a:solidFill>
              <a:srgbClr val="D0D5D9"/>
            </a:solidFill>
          </a:ln>
          <a:noFill/>
        </p:spPr>
        <p:txBody>
          <a:bodyPr wrap="square" rtlCol="0" anchor="ctr"/>
          <a:lstStyle/>
          <a:p>
            <a:pPr algn="ctr"/>
            <a:r>
              <a:rPr lang="en-US" sz="2100" b="1">
                <a:solidFill>
                  <a:srgbClr val="20252A"/>
                </a:solidFill>
                <a:latin typeface="Arial"/>
              </a:rPr>
              <a:t>Figure 3  |  Ours Event-driven G_assign Update</a:t>
            </a:r>
          </a:p>
        </p:txBody>
      </p:sp>
      <p:sp>
        <p:nvSpPr>
          <p:cNvPr id="11" name="Shape 11"/>
          <p:cNvSpPr/>
          <p:nvPr/>
        </p:nvSpPr>
        <p:spPr>
          <a:xfrm>
            <a:off x="320040" y="1325880"/>
            <a:ext cx="411480" cy="320040"/>
          </a:xfrm>
          <a:prstGeom prst="rect">
            <a:avLst/>
          </a:prstGeom>
          <a:ln w="635">
            <a:solidFill>
              <a:srgbClr val="D0D5D9"/>
            </a:solidFill>
          </a:ln>
          <a:noFill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B44747"/>
                </a:solidFill>
                <a:latin typeface="Arial"/>
              </a:rPr>
              <a:t>E1</a:t>
            </a:r>
          </a:p>
        </p:txBody>
      </p:sp>
      <p:sp>
        <p:nvSpPr>
          <p:cNvPr id="12" name="Circle 12"/>
          <p:cNvSpPr/>
          <p:nvPr/>
        </p:nvSpPr>
        <p:spPr>
          <a:xfrm>
            <a:off x="1005840" y="10058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356FA8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356FA8"/>
                </a:solidFill>
                <a:latin typeface="Arial"/>
              </a:rPr>
              <a:t>n1</a:t>
            </a:r>
          </a:p>
        </p:txBody>
      </p:sp>
      <p:sp>
        <p:nvSpPr>
          <p:cNvPr id="13" name="Circle 13"/>
          <p:cNvSpPr/>
          <p:nvPr/>
        </p:nvSpPr>
        <p:spPr>
          <a:xfrm>
            <a:off x="1508760" y="10058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356FA8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356FA8"/>
                </a:solidFill>
                <a:latin typeface="Arial"/>
              </a:rPr>
              <a:t>n2</a:t>
            </a:r>
          </a:p>
        </p:txBody>
      </p:sp>
      <p:sp>
        <p:nvSpPr>
          <p:cNvPr id="14" name="Circle 14"/>
          <p:cNvSpPr/>
          <p:nvPr/>
        </p:nvSpPr>
        <p:spPr>
          <a:xfrm>
            <a:off x="2011680" y="10058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n3</a:t>
            </a:r>
          </a:p>
        </p:txBody>
      </p:sp>
      <p:sp>
        <p:nvSpPr>
          <p:cNvPr id="15" name="Circle 15"/>
          <p:cNvSpPr/>
          <p:nvPr/>
        </p:nvSpPr>
        <p:spPr>
          <a:xfrm>
            <a:off x="1005840" y="150876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n4</a:t>
            </a:r>
          </a:p>
        </p:txBody>
      </p:sp>
      <p:sp>
        <p:nvSpPr>
          <p:cNvPr id="16" name="Circle 16"/>
          <p:cNvSpPr/>
          <p:nvPr/>
        </p:nvSpPr>
        <p:spPr>
          <a:xfrm>
            <a:off x="1508760" y="150876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n5</a:t>
            </a:r>
          </a:p>
        </p:txBody>
      </p:sp>
      <p:sp>
        <p:nvSpPr>
          <p:cNvPr id="17" name="Shape 17"/>
          <p:cNvSpPr/>
          <p:nvPr/>
        </p:nvSpPr>
        <p:spPr>
          <a:xfrm>
            <a:off x="2971800" y="1170432"/>
            <a:ext cx="685800" cy="411480"/>
          </a:xfrm>
          <a:prstGeom prst="rect">
            <a:avLst/>
          </a:prstGeom>
          <a:ln w="635">
            <a:solidFill>
              <a:srgbClr val="B44747"/>
            </a:solidFill>
          </a:ln>
          <a:solidFill>
            <a:srgbClr val="F4E9EC"/>
          </a:solidFill>
        </p:spPr>
        <p:txBody>
          <a:bodyPr wrap="square" rtlCol="0" anchor="ctr"/>
          <a:lstStyle/>
          <a:p>
            <a:pPr algn="ctr"/>
            <a:r>
              <a:rPr lang="en-US" sz="1500" b="1">
                <a:solidFill>
                  <a:srgbClr val="B44747"/>
                </a:solidFill>
                <a:latin typeface="Arial"/>
              </a:rPr>
              <a:t>E1</a:t>
            </a:r>
          </a:p>
        </p:txBody>
      </p:sp>
      <p:sp>
        <p:nvSpPr>
          <p:cNvPr id="18" name="Circle 18"/>
          <p:cNvSpPr/>
          <p:nvPr/>
        </p:nvSpPr>
        <p:spPr>
          <a:xfrm>
            <a:off x="4160520" y="10058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n1</a:t>
            </a:r>
          </a:p>
        </p:txBody>
      </p:sp>
      <p:sp>
        <p:nvSpPr>
          <p:cNvPr id="19" name="Circle 19"/>
          <p:cNvSpPr/>
          <p:nvPr/>
        </p:nvSpPr>
        <p:spPr>
          <a:xfrm>
            <a:off x="4663440" y="10058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n2</a:t>
            </a:r>
          </a:p>
        </p:txBody>
      </p:sp>
      <p:sp>
        <p:nvSpPr>
          <p:cNvPr id="20" name="Circle 20"/>
          <p:cNvSpPr/>
          <p:nvPr/>
        </p:nvSpPr>
        <p:spPr>
          <a:xfrm>
            <a:off x="5166360" y="10058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B44747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B44747"/>
                </a:solidFill>
                <a:latin typeface="Arial"/>
              </a:rPr>
              <a:t>n3</a:t>
            </a:r>
          </a:p>
        </p:txBody>
      </p:sp>
      <p:sp>
        <p:nvSpPr>
          <p:cNvPr id="21" name="Circle 21"/>
          <p:cNvSpPr/>
          <p:nvPr/>
        </p:nvSpPr>
        <p:spPr>
          <a:xfrm>
            <a:off x="4160520" y="150876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n4</a:t>
            </a:r>
          </a:p>
        </p:txBody>
      </p:sp>
      <p:sp>
        <p:nvSpPr>
          <p:cNvPr id="22" name="Circle 22"/>
          <p:cNvSpPr/>
          <p:nvPr/>
        </p:nvSpPr>
        <p:spPr>
          <a:xfrm>
            <a:off x="4663440" y="150876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B44747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B44747"/>
                </a:solidFill>
                <a:latin typeface="Arial"/>
              </a:rPr>
              <a:t>n5</a:t>
            </a:r>
          </a:p>
        </p:txBody>
      </p:sp>
      <p:sp>
        <p:nvSpPr>
          <p:cNvPr id="23" name="Line 23"/>
          <p:cNvSpPr/>
          <p:nvPr/>
        </p:nvSpPr>
        <p:spPr>
          <a:xfrm>
            <a:off x="1298448" y="1463040"/>
            <a:ext cx="384047" cy="0"/>
          </a:xfrm>
          <a:prstGeom prst="line">
            <a:avLst/>
          </a:prstGeom>
          <a:ln w="7000">
            <a:solidFill>
              <a:srgbClr val="6B737A"/>
            </a:solidFill>
            <a:tailEnd type="triangle" w="sm" len="sm"/>
          </a:ln>
        </p:spPr>
      </p:sp>
      <p:sp>
        <p:nvSpPr>
          <p:cNvPr id="24" name="Line 24"/>
          <p:cNvSpPr/>
          <p:nvPr/>
        </p:nvSpPr>
        <p:spPr>
          <a:xfrm>
            <a:off x="1801368" y="1463040"/>
            <a:ext cx="384048" cy="0"/>
          </a:xfrm>
          <a:prstGeom prst="line">
            <a:avLst/>
          </a:prstGeom>
          <a:ln w="7000">
            <a:solidFill>
              <a:srgbClr val="6B737A"/>
            </a:solidFill>
            <a:tailEnd type="triangle" w="sm" len="sm"/>
          </a:ln>
        </p:spPr>
      </p:sp>
      <p:sp>
        <p:nvSpPr>
          <p:cNvPr id="25" name="Line 25"/>
          <p:cNvSpPr/>
          <p:nvPr/>
        </p:nvSpPr>
        <p:spPr>
          <a:xfrm>
            <a:off x="4453128" y="1463040"/>
            <a:ext cx="384047" cy="0"/>
          </a:xfrm>
          <a:prstGeom prst="line">
            <a:avLst/>
          </a:prstGeom>
          <a:ln w="7000">
            <a:solidFill>
              <a:srgbClr val="6B737A"/>
            </a:solidFill>
            <a:tailEnd type="triangle" w="sm" len="sm"/>
          </a:ln>
        </p:spPr>
      </p:sp>
      <p:sp>
        <p:nvSpPr>
          <p:cNvPr id="26" name="Line 26"/>
          <p:cNvSpPr/>
          <p:nvPr/>
        </p:nvSpPr>
        <p:spPr>
          <a:xfrm>
            <a:off x="4956048" y="1463040"/>
            <a:ext cx="384047" cy="0"/>
          </a:xfrm>
          <a:prstGeom prst="line">
            <a:avLst/>
          </a:prstGeom>
          <a:ln w="7000">
            <a:solidFill>
              <a:srgbClr val="6B737A"/>
            </a:solidFill>
            <a:tailEnd type="triangle" w="sm" len="sm"/>
          </a:ln>
        </p:spPr>
      </p:sp>
      <p:sp>
        <p:nvSpPr>
          <p:cNvPr id="27" name="Shape 27"/>
          <p:cNvSpPr/>
          <p:nvPr/>
        </p:nvSpPr>
        <p:spPr>
          <a:xfrm>
            <a:off x="320040" y="2926080"/>
            <a:ext cx="411480" cy="320040"/>
          </a:xfrm>
          <a:prstGeom prst="rect">
            <a:avLst/>
          </a:prstGeom>
          <a:ln w="635">
            <a:solidFill>
              <a:srgbClr val="D0D5D9"/>
            </a:solidFill>
          </a:ln>
          <a:noFill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B44747"/>
                </a:solidFill>
                <a:latin typeface="Arial"/>
              </a:rPr>
              <a:t>E2</a:t>
            </a:r>
          </a:p>
        </p:txBody>
      </p:sp>
      <p:sp>
        <p:nvSpPr>
          <p:cNvPr id="28" name="Circle 28"/>
          <p:cNvSpPr/>
          <p:nvPr/>
        </p:nvSpPr>
        <p:spPr>
          <a:xfrm>
            <a:off x="1005840" y="26060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356FA8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356FA8"/>
                </a:solidFill>
                <a:latin typeface="Arial"/>
              </a:rPr>
              <a:t>n1</a:t>
            </a:r>
          </a:p>
        </p:txBody>
      </p:sp>
      <p:sp>
        <p:nvSpPr>
          <p:cNvPr id="29" name="Circle 29"/>
          <p:cNvSpPr/>
          <p:nvPr/>
        </p:nvSpPr>
        <p:spPr>
          <a:xfrm>
            <a:off x="1508760" y="26060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356FA8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356FA8"/>
                </a:solidFill>
                <a:latin typeface="Arial"/>
              </a:rPr>
              <a:t>n2</a:t>
            </a:r>
          </a:p>
        </p:txBody>
      </p:sp>
      <p:sp>
        <p:nvSpPr>
          <p:cNvPr id="30" name="Circle 30"/>
          <p:cNvSpPr/>
          <p:nvPr/>
        </p:nvSpPr>
        <p:spPr>
          <a:xfrm>
            <a:off x="2011680" y="26060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n3</a:t>
            </a:r>
          </a:p>
        </p:txBody>
      </p:sp>
      <p:sp>
        <p:nvSpPr>
          <p:cNvPr id="31" name="Circle 31"/>
          <p:cNvSpPr/>
          <p:nvPr/>
        </p:nvSpPr>
        <p:spPr>
          <a:xfrm>
            <a:off x="1005840" y="310896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n4</a:t>
            </a:r>
          </a:p>
        </p:txBody>
      </p:sp>
      <p:sp>
        <p:nvSpPr>
          <p:cNvPr id="32" name="Circle 32"/>
          <p:cNvSpPr/>
          <p:nvPr/>
        </p:nvSpPr>
        <p:spPr>
          <a:xfrm>
            <a:off x="1508760" y="310896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n5</a:t>
            </a:r>
          </a:p>
        </p:txBody>
      </p:sp>
      <p:sp>
        <p:nvSpPr>
          <p:cNvPr id="33" name="Shape 33"/>
          <p:cNvSpPr/>
          <p:nvPr/>
        </p:nvSpPr>
        <p:spPr>
          <a:xfrm>
            <a:off x="2971800" y="2770632"/>
            <a:ext cx="685800" cy="411480"/>
          </a:xfrm>
          <a:prstGeom prst="rect">
            <a:avLst/>
          </a:prstGeom>
          <a:ln w="635">
            <a:solidFill>
              <a:srgbClr val="B44747"/>
            </a:solidFill>
          </a:ln>
          <a:solidFill>
            <a:srgbClr val="F4E9EC"/>
          </a:solidFill>
        </p:spPr>
        <p:txBody>
          <a:bodyPr wrap="square" rtlCol="0" anchor="ctr"/>
          <a:lstStyle/>
          <a:p>
            <a:pPr algn="ctr"/>
            <a:r>
              <a:rPr lang="en-US" sz="1500" b="1">
                <a:solidFill>
                  <a:srgbClr val="B44747"/>
                </a:solidFill>
                <a:latin typeface="Arial"/>
              </a:rPr>
              <a:t>E2</a:t>
            </a:r>
          </a:p>
        </p:txBody>
      </p:sp>
      <p:sp>
        <p:nvSpPr>
          <p:cNvPr id="34" name="Circle 34"/>
          <p:cNvSpPr/>
          <p:nvPr/>
        </p:nvSpPr>
        <p:spPr>
          <a:xfrm>
            <a:off x="4160520" y="26060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n1</a:t>
            </a:r>
          </a:p>
        </p:txBody>
      </p:sp>
      <p:sp>
        <p:nvSpPr>
          <p:cNvPr id="35" name="Circle 35"/>
          <p:cNvSpPr/>
          <p:nvPr/>
        </p:nvSpPr>
        <p:spPr>
          <a:xfrm>
            <a:off x="4663440" y="26060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n2</a:t>
            </a:r>
          </a:p>
        </p:txBody>
      </p:sp>
      <p:sp>
        <p:nvSpPr>
          <p:cNvPr id="36" name="Circle 36"/>
          <p:cNvSpPr/>
          <p:nvPr/>
        </p:nvSpPr>
        <p:spPr>
          <a:xfrm>
            <a:off x="5166360" y="26060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B44747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B44747"/>
                </a:solidFill>
                <a:latin typeface="Arial"/>
              </a:rPr>
              <a:t>n3</a:t>
            </a:r>
          </a:p>
        </p:txBody>
      </p:sp>
      <p:sp>
        <p:nvSpPr>
          <p:cNvPr id="37" name="Circle 37"/>
          <p:cNvSpPr/>
          <p:nvPr/>
        </p:nvSpPr>
        <p:spPr>
          <a:xfrm>
            <a:off x="4160520" y="310896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B44747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B44747"/>
                </a:solidFill>
                <a:latin typeface="Arial"/>
              </a:rPr>
              <a:t>n4</a:t>
            </a:r>
          </a:p>
        </p:txBody>
      </p:sp>
      <p:sp>
        <p:nvSpPr>
          <p:cNvPr id="38" name="Circle 38"/>
          <p:cNvSpPr/>
          <p:nvPr/>
        </p:nvSpPr>
        <p:spPr>
          <a:xfrm>
            <a:off x="4663440" y="310896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B44747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B44747"/>
                </a:solidFill>
                <a:latin typeface="Arial"/>
              </a:rPr>
              <a:t>n5</a:t>
            </a:r>
          </a:p>
        </p:txBody>
      </p:sp>
      <p:sp>
        <p:nvSpPr>
          <p:cNvPr id="39" name="Line 39"/>
          <p:cNvSpPr/>
          <p:nvPr/>
        </p:nvSpPr>
        <p:spPr>
          <a:xfrm>
            <a:off x="1298448" y="3063240"/>
            <a:ext cx="384047" cy="0"/>
          </a:xfrm>
          <a:prstGeom prst="line">
            <a:avLst/>
          </a:prstGeom>
          <a:ln w="7000">
            <a:solidFill>
              <a:srgbClr val="6B737A"/>
            </a:solidFill>
            <a:tailEnd type="triangle" w="sm" len="sm"/>
          </a:ln>
        </p:spPr>
      </p:sp>
      <p:sp>
        <p:nvSpPr>
          <p:cNvPr id="40" name="Line 40"/>
          <p:cNvSpPr/>
          <p:nvPr/>
        </p:nvSpPr>
        <p:spPr>
          <a:xfrm>
            <a:off x="1801368" y="3063240"/>
            <a:ext cx="384048" cy="0"/>
          </a:xfrm>
          <a:prstGeom prst="line">
            <a:avLst/>
          </a:prstGeom>
          <a:ln w="7000">
            <a:solidFill>
              <a:srgbClr val="6B737A"/>
            </a:solidFill>
            <a:tailEnd type="triangle" w="sm" len="sm"/>
          </a:ln>
        </p:spPr>
      </p:sp>
      <p:sp>
        <p:nvSpPr>
          <p:cNvPr id="41" name="Line 41"/>
          <p:cNvSpPr/>
          <p:nvPr/>
        </p:nvSpPr>
        <p:spPr>
          <a:xfrm>
            <a:off x="4453128" y="3063240"/>
            <a:ext cx="384047" cy="0"/>
          </a:xfrm>
          <a:prstGeom prst="line">
            <a:avLst/>
          </a:prstGeom>
          <a:ln w="7000">
            <a:solidFill>
              <a:srgbClr val="6B737A"/>
            </a:solidFill>
            <a:tailEnd type="triangle" w="sm" len="sm"/>
          </a:ln>
        </p:spPr>
      </p:sp>
      <p:sp>
        <p:nvSpPr>
          <p:cNvPr id="42" name="Line 42"/>
          <p:cNvSpPr/>
          <p:nvPr/>
        </p:nvSpPr>
        <p:spPr>
          <a:xfrm>
            <a:off x="4956048" y="3063240"/>
            <a:ext cx="384047" cy="0"/>
          </a:xfrm>
          <a:prstGeom prst="line">
            <a:avLst/>
          </a:prstGeom>
          <a:ln w="7000">
            <a:solidFill>
              <a:srgbClr val="6B737A"/>
            </a:solidFill>
            <a:tailEnd type="triangle" w="sm" len="sm"/>
          </a:ln>
        </p:spPr>
      </p:sp>
      <p:sp>
        <p:nvSpPr>
          <p:cNvPr id="43" name="Shape 43"/>
          <p:cNvSpPr/>
          <p:nvPr/>
        </p:nvSpPr>
        <p:spPr>
          <a:xfrm>
            <a:off x="320040" y="4526279"/>
            <a:ext cx="411480" cy="320040"/>
          </a:xfrm>
          <a:prstGeom prst="rect">
            <a:avLst/>
          </a:prstGeom>
          <a:ln w="635">
            <a:solidFill>
              <a:srgbClr val="D0D5D9"/>
            </a:solidFill>
          </a:ln>
          <a:noFill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B44747"/>
                </a:solidFill>
                <a:latin typeface="Arial"/>
              </a:rPr>
              <a:t>E3</a:t>
            </a:r>
          </a:p>
        </p:txBody>
      </p:sp>
      <p:sp>
        <p:nvSpPr>
          <p:cNvPr id="44" name="Circle 44"/>
          <p:cNvSpPr/>
          <p:nvPr/>
        </p:nvSpPr>
        <p:spPr>
          <a:xfrm>
            <a:off x="1005840" y="42062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356FA8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356FA8"/>
                </a:solidFill>
                <a:latin typeface="Arial"/>
              </a:rPr>
              <a:t>n1</a:t>
            </a:r>
          </a:p>
        </p:txBody>
      </p:sp>
      <p:sp>
        <p:nvSpPr>
          <p:cNvPr id="45" name="Circle 45"/>
          <p:cNvSpPr/>
          <p:nvPr/>
        </p:nvSpPr>
        <p:spPr>
          <a:xfrm>
            <a:off x="1508760" y="42062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356FA8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356FA8"/>
                </a:solidFill>
                <a:latin typeface="Arial"/>
              </a:rPr>
              <a:t>n2</a:t>
            </a:r>
          </a:p>
        </p:txBody>
      </p:sp>
      <p:sp>
        <p:nvSpPr>
          <p:cNvPr id="46" name="Circle 46"/>
          <p:cNvSpPr/>
          <p:nvPr/>
        </p:nvSpPr>
        <p:spPr>
          <a:xfrm>
            <a:off x="2011680" y="42062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n3</a:t>
            </a:r>
          </a:p>
        </p:txBody>
      </p:sp>
      <p:sp>
        <p:nvSpPr>
          <p:cNvPr id="47" name="Circle 47"/>
          <p:cNvSpPr/>
          <p:nvPr/>
        </p:nvSpPr>
        <p:spPr>
          <a:xfrm>
            <a:off x="1005840" y="4709159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n4</a:t>
            </a:r>
          </a:p>
        </p:txBody>
      </p:sp>
      <p:sp>
        <p:nvSpPr>
          <p:cNvPr id="48" name="Circle 48"/>
          <p:cNvSpPr/>
          <p:nvPr/>
        </p:nvSpPr>
        <p:spPr>
          <a:xfrm>
            <a:off x="1508760" y="4709159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n5</a:t>
            </a:r>
          </a:p>
        </p:txBody>
      </p:sp>
      <p:sp>
        <p:nvSpPr>
          <p:cNvPr id="49" name="Shape 49"/>
          <p:cNvSpPr/>
          <p:nvPr/>
        </p:nvSpPr>
        <p:spPr>
          <a:xfrm>
            <a:off x="2971800" y="4370831"/>
            <a:ext cx="685800" cy="411480"/>
          </a:xfrm>
          <a:prstGeom prst="rect">
            <a:avLst/>
          </a:prstGeom>
          <a:ln w="635">
            <a:solidFill>
              <a:srgbClr val="B44747"/>
            </a:solidFill>
          </a:ln>
          <a:solidFill>
            <a:srgbClr val="F4E9EC"/>
          </a:solidFill>
        </p:spPr>
        <p:txBody>
          <a:bodyPr wrap="square" rtlCol="0" anchor="ctr"/>
          <a:lstStyle/>
          <a:p>
            <a:pPr algn="ctr"/>
            <a:r>
              <a:rPr lang="en-US" sz="1500" b="1">
                <a:solidFill>
                  <a:srgbClr val="B44747"/>
                </a:solidFill>
                <a:latin typeface="Arial"/>
              </a:rPr>
              <a:t>E3</a:t>
            </a:r>
          </a:p>
        </p:txBody>
      </p:sp>
      <p:sp>
        <p:nvSpPr>
          <p:cNvPr id="50" name="Circle 50"/>
          <p:cNvSpPr/>
          <p:nvPr/>
        </p:nvSpPr>
        <p:spPr>
          <a:xfrm>
            <a:off x="4160520" y="42062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n1</a:t>
            </a:r>
          </a:p>
        </p:txBody>
      </p:sp>
      <p:sp>
        <p:nvSpPr>
          <p:cNvPr id="51" name="Circle 51"/>
          <p:cNvSpPr/>
          <p:nvPr/>
        </p:nvSpPr>
        <p:spPr>
          <a:xfrm>
            <a:off x="4663440" y="42062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n2</a:t>
            </a:r>
          </a:p>
        </p:txBody>
      </p:sp>
      <p:sp>
        <p:nvSpPr>
          <p:cNvPr id="52" name="Circle 52"/>
          <p:cNvSpPr/>
          <p:nvPr/>
        </p:nvSpPr>
        <p:spPr>
          <a:xfrm>
            <a:off x="5166360" y="4206240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20252A"/>
            </a:solidFill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20252A"/>
                </a:solidFill>
                <a:latin typeface="Arial"/>
              </a:rPr>
              <a:t>n3</a:t>
            </a:r>
          </a:p>
        </p:txBody>
      </p:sp>
      <p:sp>
        <p:nvSpPr>
          <p:cNvPr id="53" name="Circle 53"/>
          <p:cNvSpPr/>
          <p:nvPr/>
        </p:nvSpPr>
        <p:spPr>
          <a:xfrm>
            <a:off x="4160520" y="4709159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B44747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B44747"/>
                </a:solidFill>
                <a:latin typeface="Arial"/>
              </a:rPr>
              <a:t>n4</a:t>
            </a:r>
          </a:p>
        </p:txBody>
      </p:sp>
      <p:sp>
        <p:nvSpPr>
          <p:cNvPr id="54" name="Circle 54"/>
          <p:cNvSpPr/>
          <p:nvPr/>
        </p:nvSpPr>
        <p:spPr>
          <a:xfrm>
            <a:off x="4663440" y="4709159"/>
            <a:ext cx="310896" cy="310896"/>
          </a:xfrm>
          <a:prstGeom prst="ellipse">
            <a:avLst/>
          </a:prstGeom>
          <a:solidFill>
            <a:srgbClr val="FFFFFF"/>
          </a:solidFill>
          <a:ln w="12000">
            <a:solidFill>
              <a:srgbClr val="B44747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050">
                <a:solidFill>
                  <a:srgbClr val="B44747"/>
                </a:solidFill>
                <a:latin typeface="Arial"/>
              </a:rPr>
              <a:t>n5</a:t>
            </a:r>
          </a:p>
        </p:txBody>
      </p:sp>
      <p:sp>
        <p:nvSpPr>
          <p:cNvPr id="55" name="Line 55"/>
          <p:cNvSpPr/>
          <p:nvPr/>
        </p:nvSpPr>
        <p:spPr>
          <a:xfrm>
            <a:off x="1298448" y="4663440"/>
            <a:ext cx="384047" cy="0"/>
          </a:xfrm>
          <a:prstGeom prst="line">
            <a:avLst/>
          </a:prstGeom>
          <a:ln w="7000">
            <a:solidFill>
              <a:srgbClr val="6B737A"/>
            </a:solidFill>
            <a:tailEnd type="triangle" w="sm" len="sm"/>
          </a:ln>
        </p:spPr>
      </p:sp>
      <p:sp>
        <p:nvSpPr>
          <p:cNvPr id="56" name="Line 56"/>
          <p:cNvSpPr/>
          <p:nvPr/>
        </p:nvSpPr>
        <p:spPr>
          <a:xfrm>
            <a:off x="1801368" y="4663440"/>
            <a:ext cx="384048" cy="0"/>
          </a:xfrm>
          <a:prstGeom prst="line">
            <a:avLst/>
          </a:prstGeom>
          <a:ln w="7000">
            <a:solidFill>
              <a:srgbClr val="6B737A"/>
            </a:solidFill>
            <a:tailEnd type="triangle" w="sm" len="sm"/>
          </a:ln>
        </p:spPr>
      </p:sp>
      <p:sp>
        <p:nvSpPr>
          <p:cNvPr id="57" name="Line 57"/>
          <p:cNvSpPr/>
          <p:nvPr/>
        </p:nvSpPr>
        <p:spPr>
          <a:xfrm>
            <a:off x="4453128" y="4663440"/>
            <a:ext cx="384047" cy="0"/>
          </a:xfrm>
          <a:prstGeom prst="line">
            <a:avLst/>
          </a:prstGeom>
          <a:ln w="7000">
            <a:solidFill>
              <a:srgbClr val="6B737A"/>
            </a:solidFill>
            <a:tailEnd type="triangle" w="sm" len="sm"/>
          </a:ln>
        </p:spPr>
      </p:sp>
      <p:sp>
        <p:nvSpPr>
          <p:cNvPr id="58" name="Line 58"/>
          <p:cNvSpPr/>
          <p:nvPr/>
        </p:nvSpPr>
        <p:spPr>
          <a:xfrm>
            <a:off x="4956048" y="4663440"/>
            <a:ext cx="384047" cy="0"/>
          </a:xfrm>
          <a:prstGeom prst="line">
            <a:avLst/>
          </a:prstGeom>
          <a:ln w="7000">
            <a:solidFill>
              <a:srgbClr val="6B737A"/>
            </a:solidFill>
            <a:tailEnd type="triangle" w="sm" len="sm"/>
          </a:ln>
        </p:spPr>
      </p:sp>
      <p:sp>
        <p:nvSpPr>
          <p:cNvPr id="59" name="Shape 59"/>
          <p:cNvSpPr/>
          <p:nvPr/>
        </p:nvSpPr>
        <p:spPr>
          <a:xfrm>
            <a:off x="6492240" y="5897880"/>
            <a:ext cx="5212080" cy="320040"/>
          </a:xfrm>
          <a:prstGeom prst="rect">
            <a:avLst/>
          </a:prstGeom>
          <a:ln w="635">
            <a:solidFill>
              <a:srgbClr val="D0D5D9"/>
            </a:solidFill>
          </a:ln>
          <a:noFill/>
        </p:spPr>
        <p:txBody>
          <a:bodyPr wrap="square" rtlCol="0" anchor="ctr"/>
          <a:lstStyle/>
          <a:p>
            <a:pPr algn="ctr"/>
            <a:r>
              <a:rPr lang="en-US" sz="1050">
                <a:solidFill>
                  <a:srgbClr val="6B737A"/>
                </a:solidFill>
                <a:latin typeface="Arial"/>
              </a:rPr>
              <a:t>blue dashed: executed  |  red dashed: affected  |  values: ***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</Words>
  <Application>WPS 演示</Application>
  <PresentationFormat>On-screen Show (16:9)</PresentationFormat>
  <Paragraphs>51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Arimo</vt:lpstr>
      <vt:lpstr>FFont-Family</vt:lpstr>
      <vt:lpstr>Arimo</vt:lpstr>
      <vt:lpstr>Arimo</vt:lpstr>
      <vt:lpstr>Arial</vt:lpstr>
      <vt:lpstr>Calibri</vt:lpstr>
      <vt:lpstr>微软雅黑</vt:lpstr>
      <vt:lpstr>Arial Unicode MS</vt:lpstr>
      <vt:lpstr>等线</vt:lpstr>
      <vt:lpstr>MingLiU-ExtB</vt:lpstr>
      <vt:lpstr>Calibri</vt:lpstr>
      <vt:lpstr>Times New Roman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— Role-Shared Semantic Coordination</dc:title>
  <dc:creator>OpenAI</dc:creator>
  <dc:subject>Editable conversion of Figure 1</dc:subject>
  <cp:lastModifiedBy>薛建阳</cp:lastModifiedBy>
  <cp:revision>38</cp:revision>
  <dcterms:created xsi:type="dcterms:W3CDTF">2026-09-07T04:43:00Z</dcterms:created>
  <dcterms:modified xsi:type="dcterms:W3CDTF">2026-09-09T14:30:22Z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AD73301BFDED4614829CAB9534A26489_13</vt:lpwstr>
  </property>
  <property fmtid="{D5CDD505-2E9C-101B-9397-08002B2CF9AE}" pid="3" name="KSOProductBuildVer">
    <vt:lpwstr>2052-12.1.0.28505</vt:lpwstr>
  </property>
</Properties>
</file>