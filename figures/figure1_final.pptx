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5759450" cy="47879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5774"/>
    <a:srgbClr val="843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2699" y="1143000"/>
            <a:ext cx="371260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572840" y="1143000"/>
            <a:ext cx="371232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575945" rtl="0" eaLnBrk="1" latinLnBrk="0" hangingPunct="1"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67995" indent="-17970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»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9" descr="2bdea198cef4ac19e4d7f0e97a03116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137240"/>
            <a:ext cx="5616360" cy="3650400"/>
          </a:xfrm>
          <a:prstGeom prst="rect">
            <a:avLst/>
          </a:prstGeom>
          <a:ln w="0">
            <a:noFill/>
          </a:ln>
        </p:spPr>
      </p:pic>
      <p:sp>
        <p:nvSpPr>
          <p:cNvPr id="43" name="左弧形箭头 3"/>
          <p:cNvSpPr/>
          <p:nvPr/>
        </p:nvSpPr>
        <p:spPr>
          <a:xfrm flipH="1">
            <a:off x="5268600" y="2077200"/>
            <a:ext cx="461160" cy="1888920"/>
          </a:xfrm>
          <a:prstGeom prst="curvedRightArrow">
            <a:avLst>
              <a:gd name="adj1" fmla="val 25000"/>
              <a:gd name="adj2" fmla="val 49913"/>
              <a:gd name="adj3" fmla="val 25000"/>
            </a:avLst>
          </a:prstGeom>
          <a:solidFill>
            <a:schemeClr val="accent1">
              <a:lumMod val="60000"/>
              <a:lumOff val="40000"/>
              <a:alpha val="65000"/>
            </a:schemeClr>
          </a:solidFill>
          <a:ln w="28575">
            <a:noFill/>
          </a:ln>
          <a:effectLst>
            <a:outerShdw blurRad="50760" dist="38160" dir="5400000" algn="t" rotWithShape="0">
              <a:schemeClr val="accent5">
                <a:lumMod val="75000"/>
                <a:alpha val="98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44" name="图片 2" descr="截屏2026-09-02 18.57.51"/>
          <p:cNvPicPr/>
          <p:nvPr/>
        </p:nvPicPr>
        <p:blipFill>
          <a:blip r:embed="rId2"/>
          <a:stretch>
            <a:fillRect/>
          </a:stretch>
        </p:blipFill>
        <p:spPr>
          <a:xfrm>
            <a:off x="5202000" y="1878480"/>
            <a:ext cx="456840" cy="394560"/>
          </a:xfrm>
          <a:prstGeom prst="rect">
            <a:avLst/>
          </a:prstGeom>
          <a:ln w="0">
            <a:noFill/>
          </a:ln>
        </p:spPr>
      </p:pic>
      <p:sp>
        <p:nvSpPr>
          <p:cNvPr id="45" name="Shape 3"/>
          <p:cNvSpPr/>
          <p:nvPr/>
        </p:nvSpPr>
        <p:spPr>
          <a:xfrm>
            <a:off x="2863800" y="440280"/>
            <a:ext cx="1440" cy="174600"/>
          </a:xfrm>
          <a:prstGeom prst="line">
            <a:avLst/>
          </a:prstGeom>
          <a:ln w="16510">
            <a:solidFill>
              <a:srgbClr val="11111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" name="Shape 4"/>
          <p:cNvSpPr/>
          <p:nvPr/>
        </p:nvSpPr>
        <p:spPr>
          <a:xfrm>
            <a:off x="1872000" y="622080"/>
            <a:ext cx="1985400" cy="338040"/>
          </a:xfrm>
          <a:prstGeom prst="roundRect">
            <a:avLst>
              <a:gd name="adj" fmla="val 13333"/>
            </a:avLst>
          </a:prstGeom>
          <a:solidFill>
            <a:srgbClr val="F3F7FC"/>
          </a:solidFill>
          <a:ln w="13970">
            <a:solidFill>
              <a:srgbClr val="5D88B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7" name="Text 5"/>
          <p:cNvSpPr/>
          <p:nvPr/>
        </p:nvSpPr>
        <p:spPr>
          <a:xfrm>
            <a:off x="1954440" y="694080"/>
            <a:ext cx="1820520" cy="12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>
                <a:solidFill>
                  <a:srgbClr val="164A8A"/>
                </a:solidFill>
                <a:latin typeface="Arial" panose="020B0604020202020204"/>
                <a:ea typeface="Arial" panose="020B0604020202020204"/>
              </a:rPr>
              <a:t>Planning Role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48" name="Text 6"/>
          <p:cNvSpPr/>
          <p:nvPr/>
        </p:nvSpPr>
        <p:spPr>
          <a:xfrm>
            <a:off x="1944000" y="816840"/>
            <a:ext cx="1851480" cy="102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Decompose tasks and assign compatible manipulators.</a:t>
            </a:r>
            <a:endParaRPr lang="en-US" sz="600" b="0" strike="noStrike" spc="-1">
              <a:latin typeface="Arial" panose="020B0604020202020204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235800" y="496440"/>
            <a:ext cx="1368000" cy="446040"/>
          </a:xfrm>
          <a:prstGeom prst="roundRect">
            <a:avLst>
              <a:gd name="adj" fmla="val 10256"/>
            </a:avLst>
          </a:prstGeom>
          <a:solidFill>
            <a:srgbClr val="F5FAF3"/>
          </a:solidFill>
          <a:ln w="13970">
            <a:solidFill>
              <a:srgbClr val="6A9164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Text 9"/>
          <p:cNvSpPr/>
          <p:nvPr/>
        </p:nvSpPr>
        <p:spPr>
          <a:xfrm>
            <a:off x="322920" y="577440"/>
            <a:ext cx="1203120" cy="112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>
                <a:solidFill>
                  <a:srgbClr val="286E29"/>
                </a:solidFill>
                <a:latin typeface="Arial" panose="020B0604020202020204"/>
                <a:ea typeface="Arial" panose="020B0604020202020204"/>
              </a:rPr>
              <a:t>Affordance Role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312840" y="721440"/>
            <a:ext cx="121356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Interpret objects, relations,</a:t>
            </a:r>
            <a:endParaRPr lang="en-US" sz="60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and feasibility facts.</a:t>
            </a:r>
            <a:endParaRPr lang="en-US" sz="600" b="0" strike="noStrike" spc="-1">
              <a:latin typeface="Arial" panose="020B0604020202020204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2098080" y="1330920"/>
            <a:ext cx="1532520" cy="375480"/>
          </a:xfrm>
          <a:prstGeom prst="roundRect">
            <a:avLst>
              <a:gd name="adj" fmla="val 12121"/>
            </a:avLst>
          </a:prstGeom>
          <a:solidFill>
            <a:srgbClr val="F6F2FB"/>
          </a:solidFill>
          <a:ln w="13970">
            <a:solidFill>
              <a:srgbClr val="7763A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" name="Text 12"/>
          <p:cNvSpPr/>
          <p:nvPr/>
        </p:nvSpPr>
        <p:spPr>
          <a:xfrm>
            <a:off x="2175480" y="1418040"/>
            <a:ext cx="137808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30" b="1" strike="noStrike" spc="-1">
                <a:solidFill>
                  <a:srgbClr val="5A2B89"/>
                </a:solidFill>
                <a:latin typeface="Arial" panose="020B0604020202020204"/>
                <a:ea typeface="Arial" panose="020B0604020202020204"/>
              </a:rPr>
              <a:t>Shared Semantic State</a:t>
            </a:r>
            <a:endParaRPr lang="en-US" sz="730" b="0" strike="noStrike" spc="-1">
              <a:latin typeface="Arial" panose="020B0604020202020204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2165040" y="1536480"/>
            <a:ext cx="1398600" cy="9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shared task and scene understanding</a:t>
            </a:r>
            <a:endParaRPr lang="en-US" sz="600" b="0" strike="noStrike" spc="-1">
              <a:latin typeface="Arial" panose="020B0604020202020204"/>
            </a:endParaRPr>
          </a:p>
        </p:txBody>
      </p:sp>
      <p:sp>
        <p:nvSpPr>
          <p:cNvPr id="55" name="Shape 14"/>
          <p:cNvSpPr/>
          <p:nvPr/>
        </p:nvSpPr>
        <p:spPr>
          <a:xfrm>
            <a:off x="4191840" y="499680"/>
            <a:ext cx="1347120" cy="461160"/>
          </a:xfrm>
          <a:prstGeom prst="roundRect">
            <a:avLst>
              <a:gd name="adj" fmla="val 10256"/>
            </a:avLst>
          </a:prstGeom>
          <a:solidFill>
            <a:srgbClr val="FFF9F0"/>
          </a:solidFill>
          <a:ln w="13970">
            <a:solidFill>
              <a:srgbClr val="D08A1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6" name="Text 15"/>
          <p:cNvSpPr/>
          <p:nvPr/>
        </p:nvSpPr>
        <p:spPr>
          <a:xfrm>
            <a:off x="4274280" y="585000"/>
            <a:ext cx="1213560" cy="112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>
                <a:solidFill>
                  <a:srgbClr val="9A5A00"/>
                </a:solidFill>
                <a:latin typeface="Arial" panose="020B0604020202020204"/>
                <a:ea typeface="Arial" panose="020B0604020202020204"/>
              </a:rPr>
              <a:t>Verification Role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4284720" y="739800"/>
            <a:ext cx="11930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Verify intended effects</a:t>
            </a:r>
            <a:endParaRPr lang="en-US" sz="58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and task progress.</a:t>
            </a:r>
            <a:endParaRPr lang="en-US" sz="580" b="0" strike="noStrike" spc="-1">
              <a:latin typeface="Arial" panose="020B0604020202020204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2864520" y="1711080"/>
            <a:ext cx="360" cy="20052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9" name="Shape 20"/>
          <p:cNvSpPr/>
          <p:nvPr/>
        </p:nvSpPr>
        <p:spPr>
          <a:xfrm>
            <a:off x="2252520" y="1917000"/>
            <a:ext cx="1213560" cy="298080"/>
          </a:xfrm>
          <a:prstGeom prst="roundRect">
            <a:avLst>
              <a:gd name="adj" fmla="val 13793"/>
            </a:avLst>
          </a:prstGeom>
          <a:solidFill>
            <a:srgbClr val="FBFBFB"/>
          </a:solidFill>
          <a:ln w="13970">
            <a:solidFill>
              <a:srgbClr val="91989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0" name="Text 21"/>
          <p:cNvSpPr/>
          <p:nvPr/>
        </p:nvSpPr>
        <p:spPr>
          <a:xfrm>
            <a:off x="2319480" y="1953000"/>
            <a:ext cx="1080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00" b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Primitive command</a:t>
            </a:r>
            <a:endParaRPr lang="en-US" sz="700" b="0" strike="noStrike" spc="-1">
              <a:latin typeface="Arial" panose="020B0604020202020204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2345040" y="2077115"/>
            <a:ext cx="1028520" cy="87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" i="1" spc="-1">
                <a:solidFill>
                  <a:srgbClr val="111111"/>
                </a:solidFill>
                <a:latin typeface="Arial" panose="020B0604020202020204"/>
                <a:ea typeface="Arial" panose="020B0604020202020204"/>
                <a:sym typeface="+mn-ea"/>
              </a:rPr>
              <a:t>manipulator</a:t>
            </a:r>
            <a:r>
              <a:rPr lang="en-US" sz="60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 · target · </a:t>
            </a:r>
            <a:r>
              <a:rPr lang="en-US" sz="600" i="1" spc="-1">
                <a:solidFill>
                  <a:srgbClr val="111111"/>
                </a:solidFill>
                <a:latin typeface="Arial" panose="020B0604020202020204"/>
                <a:ea typeface="Arial" panose="020B0604020202020204"/>
                <a:sym typeface="+mn-ea"/>
              </a:rPr>
              <a:t>action</a:t>
            </a:r>
            <a:endParaRPr lang="en-US" sz="600" b="0" strike="noStrike" spc="-1">
              <a:latin typeface="Arial" panose="020B0604020202020204"/>
            </a:endParaRPr>
          </a:p>
        </p:txBody>
      </p:sp>
      <p:sp>
        <p:nvSpPr>
          <p:cNvPr id="62" name="Shape 24"/>
          <p:cNvSpPr/>
          <p:nvPr/>
        </p:nvSpPr>
        <p:spPr>
          <a:xfrm>
            <a:off x="384840" y="1267920"/>
            <a:ext cx="977040" cy="347040"/>
          </a:xfrm>
          <a:prstGeom prst="roundRect">
            <a:avLst>
              <a:gd name="adj" fmla="val 22857"/>
            </a:avLst>
          </a:prstGeom>
          <a:solidFill>
            <a:srgbClr val="F5FAF3"/>
          </a:solidFill>
          <a:ln w="13970">
            <a:solidFill>
              <a:srgbClr val="6A9164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3" name="Text 25"/>
          <p:cNvSpPr/>
          <p:nvPr/>
        </p:nvSpPr>
        <p:spPr>
          <a:xfrm>
            <a:off x="356760" y="1292400"/>
            <a:ext cx="100476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>
                <a:solidFill>
                  <a:srgbClr val="2F7C2B"/>
                </a:solidFill>
                <a:latin typeface="Arial" panose="020B0604020202020204"/>
                <a:ea typeface="Arial" panose="020B0604020202020204"/>
              </a:rPr>
              <a:t>Visual</a:t>
            </a:r>
            <a:endParaRPr lang="en-US" sz="80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>
                <a:solidFill>
                  <a:srgbClr val="2F7C2B"/>
                </a:solidFill>
                <a:latin typeface="Arial" panose="020B0604020202020204"/>
                <a:ea typeface="Arial" panose="020B0604020202020204"/>
              </a:rPr>
              <a:t>observation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64" name="Text 27"/>
          <p:cNvSpPr/>
          <p:nvPr/>
        </p:nvSpPr>
        <p:spPr>
          <a:xfrm>
            <a:off x="4284360" y="1315440"/>
            <a:ext cx="44532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" b="1" strike="noStrike" spc="-1">
                <a:solidFill>
                  <a:srgbClr val="808080"/>
                </a:solidFill>
                <a:latin typeface="Arial" panose="020B0604020202020204"/>
                <a:ea typeface="Arial" panose="020B0604020202020204"/>
              </a:rPr>
              <a:t>Execution </a:t>
            </a:r>
            <a:endParaRPr lang="en-US" sz="60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" b="1" strike="noStrike" spc="-1">
                <a:solidFill>
                  <a:srgbClr val="808080"/>
                </a:solidFill>
                <a:latin typeface="Arial" panose="020B0604020202020204"/>
                <a:ea typeface="Arial" panose="020B0604020202020204"/>
              </a:rPr>
              <a:t>evidence</a:t>
            </a:r>
            <a:endParaRPr lang="en-US" sz="600" b="0" strike="noStrike" spc="-1">
              <a:latin typeface="Arial" panose="020B0604020202020204"/>
            </a:endParaRPr>
          </a:p>
        </p:txBody>
      </p:sp>
      <p:sp>
        <p:nvSpPr>
          <p:cNvPr id="65" name="Shape 28"/>
          <p:cNvSpPr/>
          <p:nvPr/>
        </p:nvSpPr>
        <p:spPr>
          <a:xfrm flipH="1" flipV="1">
            <a:off x="888120" y="942840"/>
            <a:ext cx="720" cy="32256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6" name="Shape 29"/>
          <p:cNvSpPr/>
          <p:nvPr/>
        </p:nvSpPr>
        <p:spPr>
          <a:xfrm flipH="1" flipV="1">
            <a:off x="883080" y="1615320"/>
            <a:ext cx="720" cy="318600"/>
          </a:xfrm>
          <a:prstGeom prst="line">
            <a:avLst/>
          </a:prstGeom>
          <a:ln w="15875">
            <a:solidFill>
              <a:srgbClr val="11111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67" name="图片 34"/>
          <p:cNvPicPr/>
          <p:nvPr/>
        </p:nvPicPr>
        <p:blipFill>
          <a:blip r:embed="rId3"/>
          <a:stretch>
            <a:fillRect/>
          </a:stretch>
        </p:blipFill>
        <p:spPr>
          <a:xfrm>
            <a:off x="1685520" y="95760"/>
            <a:ext cx="186480" cy="215640"/>
          </a:xfrm>
          <a:prstGeom prst="rect">
            <a:avLst/>
          </a:prstGeom>
          <a:ln w="0">
            <a:noFill/>
          </a:ln>
        </p:spPr>
      </p:pic>
      <p:sp>
        <p:nvSpPr>
          <p:cNvPr id="68" name="矩形标注 37"/>
          <p:cNvSpPr/>
          <p:nvPr/>
        </p:nvSpPr>
        <p:spPr>
          <a:xfrm rot="5400000">
            <a:off x="2710800" y="-624600"/>
            <a:ext cx="375480" cy="1752840"/>
          </a:xfrm>
          <a:prstGeom prst="wedgeRectCallout">
            <a:avLst>
              <a:gd name="adj1" fmla="val -13766"/>
              <a:gd name="adj2" fmla="val 56066"/>
            </a:avLst>
          </a:prstGeom>
          <a:solidFill>
            <a:srgbClr val="FFFDF9"/>
          </a:solidFill>
          <a:ln w="13970">
            <a:solidFill>
              <a:srgbClr val="9A8F8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9" name="Text 2"/>
          <p:cNvSpPr/>
          <p:nvPr/>
        </p:nvSpPr>
        <p:spPr>
          <a:xfrm>
            <a:off x="2114640" y="157320"/>
            <a:ext cx="164988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lang="en-US" sz="62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“</a:t>
            </a:r>
            <a:r>
              <a:rPr lang="en-US" sz="62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I need two bottles of cola in the basket</a:t>
            </a:r>
            <a:endParaRPr lang="en-US" sz="62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62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and clear the right table.”  </a:t>
            </a:r>
            <a:endParaRPr lang="en-US" sz="620" b="0" strike="noStrike" spc="-1">
              <a:latin typeface="Arial" panose="020B0604020202020204"/>
            </a:endParaRPr>
          </a:p>
        </p:txBody>
      </p:sp>
      <p:pic>
        <p:nvPicPr>
          <p:cNvPr id="70" name="图片 40" descr="camera"/>
          <p:cNvPicPr/>
          <p:nvPr/>
        </p:nvPicPr>
        <p:blipFill>
          <a:blip r:embed="rId4"/>
          <a:stretch>
            <a:fillRect/>
          </a:stretch>
        </p:blipFill>
        <p:spPr>
          <a:xfrm>
            <a:off x="760320" y="191196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1944000" y="95760"/>
            <a:ext cx="1820520" cy="12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>
                <a:solidFill>
                  <a:srgbClr val="806000"/>
                </a:solidFill>
                <a:latin typeface="Arial" panose="020B0604020202020204"/>
                <a:ea typeface="Arial" panose="020B0604020202020204"/>
              </a:rPr>
              <a:t>Task Instruction</a:t>
            </a:r>
            <a:endParaRPr lang="en-US" sz="800" b="0" strike="noStrike" spc="-1">
              <a:latin typeface="Arial" panose="020B0604020202020204"/>
            </a:endParaRPr>
          </a:p>
        </p:txBody>
      </p:sp>
      <p:pic>
        <p:nvPicPr>
          <p:cNvPr id="72" name="图片 43" descr="robotic-arm"/>
          <p:cNvPicPr/>
          <p:nvPr/>
        </p:nvPicPr>
        <p:blipFill>
          <a:blip r:embed="rId5"/>
          <a:stretch>
            <a:fillRect/>
          </a:stretch>
        </p:blipFill>
        <p:spPr>
          <a:xfrm>
            <a:off x="4392000" y="1536480"/>
            <a:ext cx="230760" cy="230760"/>
          </a:xfrm>
          <a:prstGeom prst="rect">
            <a:avLst/>
          </a:prstGeom>
          <a:ln w="0">
            <a:noFill/>
          </a:ln>
        </p:spPr>
      </p:pic>
      <p:pic>
        <p:nvPicPr>
          <p:cNvPr id="73" name="图片 44" descr="agents"/>
          <p:cNvPicPr/>
          <p:nvPr/>
        </p:nvPicPr>
        <p:blipFill>
          <a:blip r:embed="rId6"/>
          <a:stretch>
            <a:fillRect/>
          </a:stretch>
        </p:blipFill>
        <p:spPr>
          <a:xfrm>
            <a:off x="2287440" y="629640"/>
            <a:ext cx="186840" cy="186840"/>
          </a:xfrm>
          <a:prstGeom prst="rect">
            <a:avLst/>
          </a:prstGeom>
          <a:ln w="0">
            <a:noFill/>
          </a:ln>
        </p:spPr>
      </p:pic>
      <p:pic>
        <p:nvPicPr>
          <p:cNvPr id="74" name="图片 46" descr="database"/>
          <p:cNvPicPr/>
          <p:nvPr/>
        </p:nvPicPr>
        <p:blipFill>
          <a:blip r:embed="rId7"/>
          <a:stretch>
            <a:fillRect/>
          </a:stretch>
        </p:blipFill>
        <p:spPr>
          <a:xfrm>
            <a:off x="2187000" y="1366920"/>
            <a:ext cx="131760" cy="150840"/>
          </a:xfrm>
          <a:prstGeom prst="rect">
            <a:avLst/>
          </a:prstGeom>
          <a:ln w="0">
            <a:noFill/>
          </a:ln>
        </p:spPr>
      </p:pic>
      <p:pic>
        <p:nvPicPr>
          <p:cNvPr id="75" name="图片 47" descr="agents"/>
          <p:cNvPicPr/>
          <p:nvPr/>
        </p:nvPicPr>
        <p:blipFill>
          <a:blip r:embed="rId6"/>
          <a:stretch>
            <a:fillRect/>
          </a:stretch>
        </p:blipFill>
        <p:spPr>
          <a:xfrm>
            <a:off x="4272480" y="499680"/>
            <a:ext cx="186840" cy="186840"/>
          </a:xfrm>
          <a:prstGeom prst="rect">
            <a:avLst/>
          </a:prstGeom>
          <a:ln w="0">
            <a:noFill/>
          </a:ln>
        </p:spPr>
      </p:pic>
      <p:pic>
        <p:nvPicPr>
          <p:cNvPr id="76" name="图片 48" descr="agents"/>
          <p:cNvPicPr/>
          <p:nvPr/>
        </p:nvPicPr>
        <p:blipFill>
          <a:blip r:embed="rId6"/>
          <a:stretch>
            <a:fillRect/>
          </a:stretch>
        </p:blipFill>
        <p:spPr>
          <a:xfrm>
            <a:off x="322920" y="503280"/>
            <a:ext cx="186840" cy="186840"/>
          </a:xfrm>
          <a:prstGeom prst="rect">
            <a:avLst/>
          </a:prstGeom>
          <a:ln w="0">
            <a:noFill/>
          </a:ln>
        </p:spPr>
      </p:pic>
      <p:pic>
        <p:nvPicPr>
          <p:cNvPr id="77" name="图片 53"/>
          <p:cNvPicPr/>
          <p:nvPr/>
        </p:nvPicPr>
        <p:blipFill>
          <a:blip r:embed="rId3"/>
          <a:stretch>
            <a:fillRect/>
          </a:stretch>
        </p:blipFill>
        <p:spPr>
          <a:xfrm>
            <a:off x="5414040" y="1536480"/>
            <a:ext cx="186480" cy="215640"/>
          </a:xfrm>
          <a:prstGeom prst="rect">
            <a:avLst/>
          </a:prstGeom>
          <a:ln w="0">
            <a:noFill/>
          </a:ln>
        </p:spPr>
      </p:pic>
      <p:sp>
        <p:nvSpPr>
          <p:cNvPr id="78" name="矩形标注 54"/>
          <p:cNvSpPr/>
          <p:nvPr/>
        </p:nvSpPr>
        <p:spPr>
          <a:xfrm rot="10800000">
            <a:off x="4890960" y="1934640"/>
            <a:ext cx="852480" cy="338040"/>
          </a:xfrm>
          <a:prstGeom prst="wedgeRectCallout">
            <a:avLst>
              <a:gd name="adj1" fmla="val -21779"/>
              <a:gd name="adj2" fmla="val 90150"/>
            </a:avLst>
          </a:prstGeom>
          <a:solidFill>
            <a:srgbClr val="FFFDF9">
              <a:alpha val="23000"/>
            </a:srgbClr>
          </a:solidFill>
          <a:ln w="13970">
            <a:solidFill>
              <a:srgbClr val="9A8F80">
                <a:alpha val="67000"/>
              </a:srgb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9" name="Text 2"/>
          <p:cNvSpPr/>
          <p:nvPr/>
        </p:nvSpPr>
        <p:spPr>
          <a:xfrm>
            <a:off x="4890600" y="1934280"/>
            <a:ext cx="86832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lang="en-US" sz="62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“</a:t>
            </a:r>
            <a:r>
              <a:rPr lang="en-US" sz="620" b="0" i="1" strike="noStrike" spc="-1">
                <a:solidFill>
                  <a:srgbClr val="111111"/>
                </a:solidFill>
                <a:latin typeface="Arial" panose="020B0604020202020204"/>
                <a:ea typeface="Arial" panose="020B0604020202020204"/>
              </a:rPr>
              <a:t>Actually I want one more can of cola.”  </a:t>
            </a:r>
            <a:endParaRPr lang="en-US" sz="620" b="0" strike="noStrike" spc="-1">
              <a:latin typeface="Arial" panose="020B0604020202020204"/>
            </a:endParaRPr>
          </a:p>
        </p:txBody>
      </p:sp>
      <p:pic>
        <p:nvPicPr>
          <p:cNvPr id="80" name="图片 57" descr="settings"/>
          <p:cNvPicPr/>
          <p:nvPr/>
        </p:nvPicPr>
        <p:blipFill>
          <a:blip r:embed="rId8"/>
          <a:stretch>
            <a:fillRect/>
          </a:stretch>
        </p:blipFill>
        <p:spPr>
          <a:xfrm>
            <a:off x="4908240" y="1544040"/>
            <a:ext cx="230040" cy="230040"/>
          </a:xfrm>
          <a:prstGeom prst="rect">
            <a:avLst/>
          </a:prstGeom>
          <a:ln w="0">
            <a:noFill/>
          </a:ln>
        </p:spPr>
      </p:pic>
      <p:sp>
        <p:nvSpPr>
          <p:cNvPr id="81" name="Text 27"/>
          <p:cNvSpPr/>
          <p:nvPr/>
        </p:nvSpPr>
        <p:spPr>
          <a:xfrm>
            <a:off x="4798080" y="1315440"/>
            <a:ext cx="44532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lang="en-US" sz="600" b="1" strike="noStrike" spc="-1">
                <a:solidFill>
                  <a:srgbClr val="808080"/>
                </a:solidFill>
                <a:latin typeface="Arial" panose="020B0604020202020204"/>
                <a:ea typeface="Arial" panose="020B0604020202020204"/>
              </a:rPr>
              <a:t>External</a:t>
            </a:r>
            <a:endParaRPr lang="en-US" sz="60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600" b="1" strike="noStrike" spc="-1">
                <a:solidFill>
                  <a:srgbClr val="808080"/>
                </a:solidFill>
                <a:latin typeface="Arial" panose="020B0604020202020204"/>
                <a:ea typeface="Arial" panose="020B0604020202020204"/>
              </a:rPr>
              <a:t>disturbance</a:t>
            </a:r>
            <a:endParaRPr lang="en-US" sz="600" b="0" strike="noStrike" spc="-1">
              <a:latin typeface="Arial" panose="020B0604020202020204"/>
            </a:endParaRPr>
          </a:p>
        </p:txBody>
      </p:sp>
      <p:sp>
        <p:nvSpPr>
          <p:cNvPr id="82" name="Text 27"/>
          <p:cNvSpPr/>
          <p:nvPr/>
        </p:nvSpPr>
        <p:spPr>
          <a:xfrm>
            <a:off x="5284800" y="1320480"/>
            <a:ext cx="44532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lang="en-US" sz="600" b="1" strike="noStrike" spc="-1">
                <a:solidFill>
                  <a:srgbClr val="808080"/>
                </a:solidFill>
                <a:latin typeface="Arial" panose="020B0604020202020204"/>
                <a:ea typeface="Arial" panose="020B0604020202020204"/>
              </a:rPr>
              <a:t>Task </a:t>
            </a:r>
            <a:endParaRPr lang="en-US" sz="60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600" b="1" strike="noStrike" spc="-1">
                <a:solidFill>
                  <a:srgbClr val="808080"/>
                </a:solidFill>
                <a:latin typeface="Arial" panose="020B0604020202020204"/>
                <a:ea typeface="Arial" panose="020B0604020202020204"/>
              </a:rPr>
              <a:t>Update</a:t>
            </a:r>
            <a:endParaRPr lang="en-US" sz="600" b="0" strike="noStrike" spc="-1">
              <a:latin typeface="Arial" panose="020B0604020202020204"/>
            </a:endParaRPr>
          </a:p>
        </p:txBody>
      </p:sp>
      <p:sp>
        <p:nvSpPr>
          <p:cNvPr id="83" name="曲线连接符 61"/>
          <p:cNvSpPr/>
          <p:nvPr/>
        </p:nvSpPr>
        <p:spPr>
          <a:xfrm rot="5400000">
            <a:off x="2680200" y="1144440"/>
            <a:ext cx="369720" cy="2880"/>
          </a:xfrm>
          <a:prstGeom prst="curvedConnector3">
            <a:avLst>
              <a:gd name="adj1" fmla="val 50086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4" name="曲线连接符 62"/>
          <p:cNvSpPr/>
          <p:nvPr/>
        </p:nvSpPr>
        <p:spPr>
          <a:xfrm>
            <a:off x="1604160" y="720000"/>
            <a:ext cx="493560" cy="798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5" name="曲线连接符 63"/>
          <p:cNvSpPr/>
          <p:nvPr/>
        </p:nvSpPr>
        <p:spPr>
          <a:xfrm rot="10800000" flipV="1">
            <a:off x="3630960" y="731160"/>
            <a:ext cx="560520" cy="787680"/>
          </a:xfrm>
          <a:prstGeom prst="curvedConnector3">
            <a:avLst>
              <a:gd name="adj1" fmla="val 49943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6" name="曲线连接符 68"/>
          <p:cNvSpPr/>
          <p:nvPr/>
        </p:nvSpPr>
        <p:spPr>
          <a:xfrm rot="16200000">
            <a:off x="4509000" y="959760"/>
            <a:ext cx="353880" cy="35784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7" name="曲线连接符 69"/>
          <p:cNvSpPr/>
          <p:nvPr/>
        </p:nvSpPr>
        <p:spPr>
          <a:xfrm rot="16200000" flipV="1">
            <a:off x="4766400" y="1061640"/>
            <a:ext cx="352080" cy="155160"/>
          </a:xfrm>
          <a:prstGeom prst="curvedConnector3">
            <a:avLst>
              <a:gd name="adj1" fmla="val 49910"/>
            </a:avLst>
          </a:prstGeom>
          <a:noFill/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8" name="曲线连接符 70"/>
          <p:cNvSpPr/>
          <p:nvPr/>
        </p:nvSpPr>
        <p:spPr>
          <a:xfrm rot="16200000" flipV="1">
            <a:off x="5007240" y="820440"/>
            <a:ext cx="357120" cy="642240"/>
          </a:xfrm>
          <a:prstGeom prst="curvedConnector2">
            <a:avLst/>
          </a:prstGeom>
          <a:noFill/>
          <a:ln>
            <a:solidFill>
              <a:srgbClr val="A5A5A5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9" name="Rounded Rectangular Callout 75"/>
          <p:cNvSpPr/>
          <p:nvPr/>
        </p:nvSpPr>
        <p:spPr>
          <a:xfrm rot="10320000" flipH="1">
            <a:off x="2291400" y="3674160"/>
            <a:ext cx="1082880" cy="483480"/>
          </a:xfrm>
          <a:prstGeom prst="cloudCallout">
            <a:avLst>
              <a:gd name="adj1" fmla="val -48987"/>
              <a:gd name="adj2" fmla="val 90329"/>
            </a:avLst>
          </a:prstGeom>
          <a:solidFill>
            <a:srgbClr val="F9F9F9"/>
          </a:solidFill>
          <a:ln w="8890">
            <a:solidFill>
              <a:srgbClr val="8E9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矩形 25"/>
          <p:cNvSpPr/>
          <p:nvPr/>
        </p:nvSpPr>
        <p:spPr>
          <a:xfrm rot="20880000">
            <a:off x="2279880" y="3692520"/>
            <a:ext cx="1180080" cy="393840"/>
          </a:xfrm>
          <a:prstGeom prst="rect">
            <a:avLst/>
          </a:prstGeom>
          <a:noFill/>
          <a:ln w="0">
            <a:noFill/>
          </a:ln>
          <a:effectLst>
            <a:glow rad="1663560">
              <a:srgbClr val="4472C4">
                <a:alpha val="40000"/>
              </a:srgbClr>
            </a:glo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3" name="Right Arrow 71"/>
          <p:cNvSpPr/>
          <p:nvPr/>
        </p:nvSpPr>
        <p:spPr>
          <a:xfrm rot="480000">
            <a:off x="2679120" y="3044520"/>
            <a:ext cx="959760" cy="118440"/>
          </a:xfrm>
          <a:prstGeom prst="rightArrow">
            <a:avLst>
              <a:gd name="adj1" fmla="val 28000"/>
              <a:gd name="adj2" fmla="val 70000"/>
            </a:avLst>
          </a:prstGeom>
          <a:solidFill>
            <a:srgbClr val="375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" name="矩形 1"/>
          <p:cNvSpPr/>
          <p:nvPr/>
        </p:nvSpPr>
        <p:spPr>
          <a:xfrm rot="480000">
            <a:off x="3657790" y="3550727"/>
            <a:ext cx="1948815" cy="2813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lvl="0" algn="ctr">
              <a:buClrTx/>
              <a:buSzTx/>
              <a:buFontTx/>
            </a:pPr>
            <a:r>
              <a:rPr lang="en-US" altLang="zh-CN" sz="800" b="1" i="1"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Downstream Suction </a:t>
            </a:r>
            <a:endParaRPr lang="en-US" altLang="zh-CN" sz="800" b="1" i="1"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  <a:lumMod val="50000"/>
                  </a:scheme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800" b="1" i="1"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additionally</a:t>
            </a:r>
            <a:r>
              <a:rPr lang="en-US" altLang="zh-CN" sz="800" b="1" i="1"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 holds cola can</a:t>
            </a:r>
            <a:r>
              <a:rPr lang="en-US" altLang="zh-CN" sz="800" b="1" i="1">
                <a:solidFill>
                  <a:schemeClr val="accent4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 </a:t>
            </a:r>
            <a:endParaRPr lang="en-US" altLang="zh-CN" sz="800" b="1" i="1">
              <a:solidFill>
                <a:schemeClr val="accent4"/>
              </a:solidFill>
              <a:effectLst>
                <a:outerShdw blurRad="12700" dist="38100" dir="2700000" algn="tl" rotWithShape="0">
                  <a:schemeClr val="bg1">
                    <a:lumMod val="50000"/>
                    <a:lumMod val="50000"/>
                  </a:schemeClr>
                </a:outerShdw>
              </a:effectLst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 rot="480000">
            <a:off x="361950" y="2839720"/>
            <a:ext cx="905510" cy="23304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sx="125000" sy="125000" algn="t" rotWithShape="0">
              <a:schemeClr val="bg1">
                <a:alpha val="55000"/>
              </a:schemeClr>
            </a:outerShdw>
          </a:effectLst>
        </p:spPr>
        <p:txBody>
          <a:bodyPr wrap="none" lIns="91440" tIns="45720" rIns="91440" bIns="45720" rtlCol="0" anchor="t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lvl="0" algn="ctr">
              <a:buClrTx/>
              <a:buSzTx/>
              <a:buFontTx/>
            </a:pPr>
            <a:r>
              <a:rPr lang="en-US" altLang="zh-CN" sz="800" b="1" i="1"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Up</a:t>
            </a:r>
            <a:r>
              <a:rPr lang="en-US" altLang="zh-CN" sz="800" b="1" i="1"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stream Suction </a:t>
            </a:r>
            <a:endParaRPr lang="en-US" altLang="zh-CN" sz="800" b="1" i="1"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  <a:lumMod val="50000"/>
                  </a:scheme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800" b="1" i="1"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pick up</a:t>
            </a:r>
            <a:r>
              <a:rPr lang="en-US" altLang="zh-CN" sz="800" b="1" i="1"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sz="800" b="1" i="1">
                <a:solidFill>
                  <a:srgbClr val="FF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fallen</a:t>
            </a:r>
            <a:r>
              <a:rPr lang="en-US" altLang="zh-CN" sz="800" b="1" i="1">
                <a:solidFill>
                  <a:srgbClr val="D45774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sz="800" b="1" i="1"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cola</a:t>
            </a:r>
            <a:r>
              <a:rPr lang="en-US" altLang="zh-CN" sz="800" b="1" i="1"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  <a:lumMod val="50000"/>
                    </a:schemeClr>
                  </a:outerShdw>
                </a:effectLst>
                <a:sym typeface="+mn-ea"/>
              </a:rPr>
              <a:t> </a:t>
            </a:r>
            <a:endParaRPr lang="en-US" altLang="zh-CN" sz="800" b="1" i="1"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  <a:lumMod val="50000"/>
                  </a:schemeClr>
                </a:outerShdw>
              </a:effectLst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 rot="21300000">
            <a:off x="2440305" y="3723640"/>
            <a:ext cx="1242695" cy="358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870" i="1">
                <a:solidFill>
                  <a:srgbClr val="42464C"/>
                </a:solidFill>
                <a:latin typeface="Arial" panose="020B0604020202020204"/>
                <a:sym typeface="+mn-ea"/>
              </a:rPr>
              <a:t>Sorry for
dropping that～</a:t>
            </a:r>
            <a:endParaRPr sz="870" i="1">
              <a:solidFill>
                <a:srgbClr val="42464C"/>
              </a:solidFill>
              <a:latin typeface="Arial" panose="020B0604020202020204"/>
            </a:endParaRPr>
          </a:p>
        </p:txBody>
      </p:sp>
      <p:sp>
        <p:nvSpPr>
          <p:cNvPr id="21" name="TextBox 72"/>
          <p:cNvSpPr txBox="1"/>
          <p:nvPr>
            <p:custDataLst>
              <p:tags r:id="rId10"/>
            </p:custDataLst>
          </p:nvPr>
        </p:nvSpPr>
        <p:spPr>
          <a:xfrm rot="480000">
            <a:off x="2596896" y="2862961"/>
            <a:ext cx="12344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375687"/>
                </a:solidFill>
                <a:latin typeface="Arial" panose="020B0604020202020204"/>
              </a:rPr>
              <a:t>Conveyor Moving</a:t>
            </a:r>
            <a:endParaRPr sz="1040" b="1" i="0">
              <a:solidFill>
                <a:srgbClr val="375687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Arimo</vt:lpstr>
      <vt:lpstr>FFont-Family</vt:lpstr>
      <vt:lpstr>Arimo</vt:lpstr>
      <vt:lpstr>Arimo</vt:lpstr>
      <vt:lpstr>Arial</vt:lpstr>
      <vt:lpstr>Calibri</vt:lpstr>
      <vt:lpstr>微软雅黑</vt:lpstr>
      <vt:lpstr>Arial Unicode MS</vt:lpstr>
      <vt:lpstr>等线</vt:lpstr>
      <vt:lpstr>MingLiU-ExtB</vt:lpstr>
      <vt:lpstr>Calibri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— Role-Shared Semantic Coordination</dc:title>
  <dc:creator>OpenAI</dc:creator>
  <dc:subject>Editable conversion of Figure 1</dc:subject>
  <cp:lastModifiedBy>薛建阳</cp:lastModifiedBy>
  <cp:revision>38</cp:revision>
  <dcterms:created xsi:type="dcterms:W3CDTF">2026-09-07T04:43:00Z</dcterms:created>
  <dcterms:modified xsi:type="dcterms:W3CDTF">2026-09-09T14:30:22Z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AD73301BFDED4614829CAB9534A26489_13</vt:lpwstr>
  </property>
  <property fmtid="{D5CDD505-2E9C-101B-9397-08002B2CF9AE}" pid="3" name="KSOProductBuildVer">
    <vt:lpwstr>2052-12.1.0.28505</vt:lpwstr>
  </property>
</Properties>
</file>