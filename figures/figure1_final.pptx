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5759450" cy="47879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5774"/>
    <a:srgbClr val="8439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72699" y="1143000"/>
            <a:ext cx="3712602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575945" rtl="0" eaLnBrk="1" latinLnBrk="0" hangingPunct="1">
        <a:spcBef>
          <a:spcPct val="0"/>
        </a:spcBef>
        <a:buNone/>
        <a:defRPr sz="27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201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indent="-179705" algn="l" defTabSz="575945" rtl="0" eaLnBrk="1" latinLnBrk="0" hangingPunct="1">
        <a:spcBef>
          <a:spcPts val="60"/>
        </a:spcBef>
        <a:buFont typeface="Arial" panose="020B0604020202090204" pitchFamily="34" charset="0"/>
        <a:buChar char="–"/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3pPr>
      <a:lvl4pPr marL="100774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–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9603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»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58369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87198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44792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1pPr>
      <a:lvl2pPr marL="2882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2pPr>
      <a:lvl3pPr marL="57594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3pPr>
      <a:lvl4pPr marL="8642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4pPr>
      <a:lvl5pPr marL="11518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5pPr>
      <a:lvl6pPr marL="14401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6pPr>
      <a:lvl7pPr marL="17278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7pPr>
      <a:lvl8pPr marL="201612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8pPr>
      <a:lvl9pPr marL="23037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3.xml"/><Relationship Id="rId7" Type="http://schemas.openxmlformats.org/officeDocument/2006/relationships/image" Target="../media/image5.png"/><Relationship Id="rId6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tags" Target="../tags/tag1.xml"/><Relationship Id="rId3" Type="http://schemas.openxmlformats.org/officeDocument/2006/relationships/image" Target="../media/image3.png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1.xml"/><Relationship Id="rId22" Type="http://schemas.openxmlformats.org/officeDocument/2006/relationships/tags" Target="../tags/tag14.xml"/><Relationship Id="rId21" Type="http://schemas.openxmlformats.org/officeDocument/2006/relationships/tags" Target="../tags/tag13.xml"/><Relationship Id="rId20" Type="http://schemas.openxmlformats.org/officeDocument/2006/relationships/tags" Target="../tags/tag12.xml"/><Relationship Id="rId2" Type="http://schemas.openxmlformats.org/officeDocument/2006/relationships/image" Target="../media/image2.png"/><Relationship Id="rId19" Type="http://schemas.openxmlformats.org/officeDocument/2006/relationships/tags" Target="../tags/tag11.xml"/><Relationship Id="rId18" Type="http://schemas.openxmlformats.org/officeDocument/2006/relationships/tags" Target="../tags/tag10.xml"/><Relationship Id="rId17" Type="http://schemas.openxmlformats.org/officeDocument/2006/relationships/tags" Target="../tags/tag9.xml"/><Relationship Id="rId16" Type="http://schemas.openxmlformats.org/officeDocument/2006/relationships/image" Target="../media/image8.png"/><Relationship Id="rId15" Type="http://schemas.openxmlformats.org/officeDocument/2006/relationships/tags" Target="../tags/tag8.xml"/><Relationship Id="rId14" Type="http://schemas.openxmlformats.org/officeDocument/2006/relationships/tags" Target="../tags/tag7.xml"/><Relationship Id="rId13" Type="http://schemas.openxmlformats.org/officeDocument/2006/relationships/tags" Target="../tags/tag6.xml"/><Relationship Id="rId12" Type="http://schemas.openxmlformats.org/officeDocument/2006/relationships/tags" Target="../tags/tag5.xml"/><Relationship Id="rId11" Type="http://schemas.openxmlformats.org/officeDocument/2006/relationships/tags" Target="../tags/tag4.xml"/><Relationship Id="rId10" Type="http://schemas.openxmlformats.org/officeDocument/2006/relationships/image" Target="../media/image7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2bdea198cef4ac19e4d7f0e97a03116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37285"/>
            <a:ext cx="5616575" cy="3650615"/>
          </a:xfrm>
          <a:prstGeom prst="rect">
            <a:avLst/>
          </a:prstGeom>
        </p:spPr>
      </p:pic>
      <p:sp>
        <p:nvSpPr>
          <p:cNvPr id="4" name="左弧形箭头 3"/>
          <p:cNvSpPr/>
          <p:nvPr/>
        </p:nvSpPr>
        <p:spPr>
          <a:xfrm flipH="1">
            <a:off x="5269230" y="2077085"/>
            <a:ext cx="461645" cy="1889125"/>
          </a:xfrm>
          <a:prstGeom prst="curvedRightArrow">
            <a:avLst>
              <a:gd name="adj1" fmla="val 25000"/>
              <a:gd name="adj2" fmla="val 49913"/>
              <a:gd name="adj3" fmla="val 25000"/>
            </a:avLst>
          </a:prstGeom>
          <a:solidFill>
            <a:schemeClr val="accent1">
              <a:lumMod val="60000"/>
              <a:lumOff val="40000"/>
              <a:alpha val="65000"/>
            </a:schemeClr>
          </a:solidFill>
          <a:ln w="28575" cap="sq" cmpd="sng">
            <a:noFill/>
            <a:prstDash val="solid"/>
            <a:round/>
            <a:headEnd type="none"/>
            <a:tailEnd type="triangle" w="sm" len="sm"/>
          </a:ln>
          <a:effectLst>
            <a:outerShdw blurRad="50800" dist="38100" dir="5400000" algn="t" rotWithShape="0">
              <a:schemeClr val="accent5">
                <a:lumMod val="75000"/>
                <a:alpha val="98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3" name="图片 2" descr="截屏2026-09-02 18.57.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920" y="1878330"/>
            <a:ext cx="457200" cy="394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64040" y="440497"/>
            <a:ext cx="1270" cy="174625"/>
          </a:xfrm>
          <a:prstGeom prst="line">
            <a:avLst/>
          </a:prstGeom>
          <a:noFill/>
          <a:ln w="1651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1872170" y="622107"/>
            <a:ext cx="1985645" cy="338455"/>
          </a:xfrm>
          <a:prstGeom prst="roundRect">
            <a:avLst>
              <a:gd name="adj" fmla="val 13333"/>
            </a:avLst>
          </a:prstGeom>
          <a:solidFill>
            <a:srgbClr val="F3F7FC"/>
          </a:solidFill>
          <a:ln w="13970">
            <a:solidFill>
              <a:srgbClr val="5D88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54285" y="693981"/>
            <a:ext cx="1820915" cy="1234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4A8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Planning Role</a:t>
            </a:r>
            <a:endParaRPr lang="en-US" sz="800" b="1" dirty="0">
              <a:solidFill>
                <a:srgbClr val="164A8A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943997" y="816798"/>
            <a:ext cx="1851778" cy="10287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Plan tasks and assign heterogeneous executors.</a:t>
            </a:r>
            <a:endParaRPr lang="en-US" sz="600" dirty="0"/>
          </a:p>
        </p:txBody>
      </p:sp>
      <p:sp>
        <p:nvSpPr>
          <p:cNvPr id="11" name="Shape 8"/>
          <p:cNvSpPr/>
          <p:nvPr/>
        </p:nvSpPr>
        <p:spPr>
          <a:xfrm>
            <a:off x="235775" y="496377"/>
            <a:ext cx="1368425" cy="446405"/>
          </a:xfrm>
          <a:prstGeom prst="roundRect">
            <a:avLst>
              <a:gd name="adj" fmla="val 10256"/>
            </a:avLst>
          </a:prstGeom>
          <a:solidFill>
            <a:srgbClr val="F5FAF3"/>
          </a:solidFill>
          <a:ln w="13970">
            <a:solidFill>
              <a:srgbClr val="6A916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3002" y="577550"/>
            <a:ext cx="1203656" cy="1131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86E29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Affordance Role</a:t>
            </a:r>
            <a:endParaRPr lang="en-US" sz="800" b="1" dirty="0">
              <a:solidFill>
                <a:srgbClr val="286E29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312779" y="721386"/>
            <a:ext cx="1213943" cy="1800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Interpret objects, relations,</a:t>
            </a:r>
            <a:endParaRPr lang="en-US" sz="600" dirty="0"/>
          </a:p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affordances.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098230" y="1330767"/>
            <a:ext cx="1532890" cy="375920"/>
          </a:xfrm>
          <a:prstGeom prst="roundRect">
            <a:avLst>
              <a:gd name="adj" fmla="val 12121"/>
            </a:avLst>
          </a:prstGeom>
          <a:solidFill>
            <a:srgbClr val="F6F2FB"/>
          </a:solidFill>
          <a:ln w="13970">
            <a:solidFill>
              <a:srgbClr val="7763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75469" y="1418102"/>
            <a:ext cx="1378546" cy="1183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725" b="1" dirty="0">
                <a:solidFill>
                  <a:srgbClr val="5A2B89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Shared Semantic State</a:t>
            </a:r>
            <a:endParaRPr lang="en-US" sz="725" dirty="0"/>
          </a:p>
        </p:txBody>
      </p:sp>
      <p:sp>
        <p:nvSpPr>
          <p:cNvPr id="16" name="Text 13"/>
          <p:cNvSpPr txBox="1"/>
          <p:nvPr/>
        </p:nvSpPr>
        <p:spPr>
          <a:xfrm>
            <a:off x="2165182" y="1536410"/>
            <a:ext cx="1399121" cy="977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shared task and scene understanding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191825" y="499552"/>
            <a:ext cx="1347470" cy="461645"/>
          </a:xfrm>
          <a:prstGeom prst="roundRect">
            <a:avLst>
              <a:gd name="adj" fmla="val 10256"/>
            </a:avLst>
          </a:prstGeom>
          <a:solidFill>
            <a:srgbClr val="FFF9F0"/>
          </a:solidFill>
          <a:ln w="13970">
            <a:solidFill>
              <a:srgbClr val="D08A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74329" y="585170"/>
            <a:ext cx="1213943" cy="1131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A5A0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Verification Role</a:t>
            </a:r>
            <a:endParaRPr lang="en-US" sz="800" b="1" dirty="0">
              <a:solidFill>
                <a:srgbClr val="9A5A00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9" name="Text 16"/>
          <p:cNvSpPr txBox="1"/>
          <p:nvPr/>
        </p:nvSpPr>
        <p:spPr>
          <a:xfrm>
            <a:off x="4284617" y="739801"/>
            <a:ext cx="1193368" cy="18003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58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Interpret execution evidence</a:t>
            </a:r>
            <a:endParaRPr lang="en-US" sz="585" dirty="0"/>
          </a:p>
          <a:p>
            <a:pPr marL="0" indent="0" algn="ctr">
              <a:buNone/>
            </a:pPr>
            <a:r>
              <a:rPr lang="en-US" sz="58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task progress.</a:t>
            </a:r>
            <a:endParaRPr lang="en-US" sz="585" dirty="0"/>
          </a:p>
        </p:txBody>
      </p:sp>
      <p:sp>
        <p:nvSpPr>
          <p:cNvPr id="22" name="Shape 19"/>
          <p:cNvSpPr/>
          <p:nvPr/>
        </p:nvSpPr>
        <p:spPr>
          <a:xfrm>
            <a:off x="2864742" y="1711300"/>
            <a:ext cx="0" cy="200609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2252627" y="1917053"/>
            <a:ext cx="1213943" cy="298342"/>
          </a:xfrm>
          <a:prstGeom prst="roundRect">
            <a:avLst>
              <a:gd name="adj" fmla="val 13793"/>
            </a:avLst>
          </a:prstGeom>
          <a:solidFill>
            <a:srgbClr val="FBFBFB"/>
          </a:solidFill>
          <a:ln w="13970">
            <a:solidFill>
              <a:srgbClr val="91989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319496" y="1953060"/>
            <a:ext cx="1080204" cy="1183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Execution directive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2345216" y="2076512"/>
            <a:ext cx="1028765" cy="874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Robot Arm </a:t>
            </a: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· </a:t>
            </a: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Primitive Skill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84810" y="1268095"/>
            <a:ext cx="977265" cy="347345"/>
          </a:xfrm>
          <a:prstGeom prst="roundRect">
            <a:avLst>
              <a:gd name="adj" fmla="val 22857"/>
            </a:avLst>
          </a:prstGeom>
          <a:solidFill>
            <a:srgbClr val="F5FAF3"/>
          </a:solidFill>
          <a:ln w="13970">
            <a:solidFill>
              <a:srgbClr val="6A916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6870" y="1292225"/>
            <a:ext cx="1005205" cy="32321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7C2B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Scene </a:t>
            </a:r>
            <a:endParaRPr lang="en-US" sz="800" b="1" dirty="0">
              <a:solidFill>
                <a:srgbClr val="2F7C2B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  <a:p>
            <a:pPr marL="0" indent="0" algn="ctr">
              <a:buNone/>
            </a:pPr>
            <a:r>
              <a:rPr lang="en-US" sz="800" b="1" dirty="0">
                <a:solidFill>
                  <a:srgbClr val="2F7C2B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observation</a:t>
            </a:r>
            <a:endParaRPr lang="en-US" sz="800" b="1" dirty="0">
              <a:solidFill>
                <a:srgbClr val="2F7C2B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4284535" y="1315527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Execution 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  <a:p>
            <a:pPr marL="0" indent="0" algn="ctr">
              <a:buNone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evidence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31" name="Shape 28"/>
          <p:cNvSpPr/>
          <p:nvPr/>
        </p:nvSpPr>
        <p:spPr>
          <a:xfrm rot="10800000">
            <a:off x="888365" y="942975"/>
            <a:ext cx="635" cy="32258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rot="10800000">
            <a:off x="883285" y="1615440"/>
            <a:ext cx="635" cy="31877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480" y="95692"/>
            <a:ext cx="186690" cy="215900"/>
          </a:xfrm>
          <a:prstGeom prst="rect">
            <a:avLst/>
          </a:prstGeom>
        </p:spPr>
      </p:pic>
      <p:sp>
        <p:nvSpPr>
          <p:cNvPr id="38" name="矩形标注 37"/>
          <p:cNvSpPr/>
          <p:nvPr/>
        </p:nvSpPr>
        <p:spPr>
          <a:xfrm rot="5400000">
            <a:off x="2710370" y="-624398"/>
            <a:ext cx="375920" cy="1753235"/>
          </a:xfrm>
          <a:prstGeom prst="wedgeRectCallout">
            <a:avLst>
              <a:gd name="adj1" fmla="val -13766"/>
              <a:gd name="adj2" fmla="val 56066"/>
            </a:avLst>
          </a:prstGeom>
          <a:solidFill>
            <a:srgbClr val="FFFDF9"/>
          </a:solidFill>
          <a:ln w="13970">
            <a:solidFill>
              <a:srgbClr val="9A8F80"/>
            </a:solidFill>
            <a:prstDash val="solid"/>
          </a:ln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0" name="Text 2"/>
          <p:cNvSpPr txBox="1"/>
          <p:nvPr>
            <p:custDataLst>
              <p:tags r:id="rId4"/>
            </p:custDataLst>
          </p:nvPr>
        </p:nvSpPr>
        <p:spPr>
          <a:xfrm>
            <a:off x="2114740" y="157287"/>
            <a:ext cx="1650365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“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I need two bottles of cola in the basket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and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clear the right table.”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 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pic>
        <p:nvPicPr>
          <p:cNvPr id="41" name="图片 40" descr="came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285" y="1911792"/>
            <a:ext cx="246380" cy="246380"/>
          </a:xfrm>
          <a:prstGeom prst="rect">
            <a:avLst/>
          </a:prstGeom>
        </p:spPr>
      </p:pic>
      <p:sp>
        <p:nvSpPr>
          <p:cNvPr id="42" name="Text 5"/>
          <p:cNvSpPr txBox="1"/>
          <p:nvPr>
            <p:custDataLst>
              <p:tags r:id="rId6"/>
            </p:custDataLst>
          </p:nvPr>
        </p:nvSpPr>
        <p:spPr>
          <a:xfrm>
            <a:off x="1944125" y="95811"/>
            <a:ext cx="1820915" cy="123452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800" b="1" dirty="0">
                <a:solidFill>
                  <a:schemeClr val="accent4">
                    <a:lumMod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Task Instruction</a:t>
            </a:r>
            <a:endParaRPr lang="en-US" sz="800" b="1" dirty="0">
              <a:solidFill>
                <a:schemeClr val="accent4">
                  <a:lumMod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pic>
        <p:nvPicPr>
          <p:cNvPr id="44" name="图片 43" descr="robotic-ar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1850" y="1536507"/>
            <a:ext cx="231140" cy="231140"/>
          </a:xfrm>
          <a:prstGeom prst="rect">
            <a:avLst/>
          </a:prstGeom>
        </p:spPr>
      </p:pic>
      <p:pic>
        <p:nvPicPr>
          <p:cNvPr id="45" name="图片 44" descr="agents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2287460" y="629727"/>
            <a:ext cx="187325" cy="187325"/>
          </a:xfrm>
          <a:prstGeom prst="rect">
            <a:avLst/>
          </a:prstGeom>
        </p:spPr>
      </p:pic>
      <p:pic>
        <p:nvPicPr>
          <p:cNvPr id="47" name="图片 46" descr="databa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7130" y="1366962"/>
            <a:ext cx="132080" cy="151130"/>
          </a:xfrm>
          <a:prstGeom prst="rect">
            <a:avLst/>
          </a:prstGeom>
        </p:spPr>
      </p:pic>
      <p:pic>
        <p:nvPicPr>
          <p:cNvPr id="48" name="图片 47" descr="agents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72470" y="499552"/>
            <a:ext cx="187325" cy="187325"/>
          </a:xfrm>
          <a:prstGeom prst="rect">
            <a:avLst/>
          </a:prstGeom>
        </p:spPr>
      </p:pic>
      <p:pic>
        <p:nvPicPr>
          <p:cNvPr id="49" name="图片 48" descr="agents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22770" y="503362"/>
            <a:ext cx="187325" cy="187325"/>
          </a:xfrm>
          <a:prstGeom prst="rect">
            <a:avLst/>
          </a:prstGeom>
        </p:spPr>
      </p:pic>
      <p:pic>
        <p:nvPicPr>
          <p:cNvPr id="54" name="图片 5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414200" y="1536507"/>
            <a:ext cx="186690" cy="215900"/>
          </a:xfrm>
          <a:prstGeom prst="rect">
            <a:avLst/>
          </a:prstGeom>
        </p:spPr>
      </p:pic>
      <p:sp>
        <p:nvSpPr>
          <p:cNvPr id="55" name="矩形标注 54"/>
          <p:cNvSpPr/>
          <p:nvPr>
            <p:custDataLst>
              <p:tags r:id="rId14"/>
            </p:custDataLst>
          </p:nvPr>
        </p:nvSpPr>
        <p:spPr>
          <a:xfrm rot="10800000">
            <a:off x="4890770" y="1934210"/>
            <a:ext cx="852805" cy="338455"/>
          </a:xfrm>
          <a:prstGeom prst="wedgeRectCallout">
            <a:avLst>
              <a:gd name="adj1" fmla="val -21779"/>
              <a:gd name="adj2" fmla="val 90150"/>
            </a:avLst>
          </a:prstGeom>
          <a:solidFill>
            <a:srgbClr val="FFFDF9">
              <a:alpha val="23000"/>
            </a:srgbClr>
          </a:solidFill>
          <a:ln w="13970">
            <a:solidFill>
              <a:srgbClr val="9A8F80">
                <a:alpha val="67000"/>
              </a:srgbClr>
            </a:solidFill>
            <a:prstDash val="solid"/>
          </a:ln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6" name="Text 2"/>
          <p:cNvSpPr txBox="1"/>
          <p:nvPr>
            <p:custDataLst>
              <p:tags r:id="rId15"/>
            </p:custDataLst>
          </p:nvPr>
        </p:nvSpPr>
        <p:spPr>
          <a:xfrm>
            <a:off x="4890770" y="1934210"/>
            <a:ext cx="868680" cy="339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“Actually I want one more can of cola.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”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 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pic>
        <p:nvPicPr>
          <p:cNvPr id="58" name="图片 57" descr="settings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08105" y="1544127"/>
            <a:ext cx="230505" cy="230505"/>
          </a:xfrm>
          <a:prstGeom prst="rect">
            <a:avLst/>
          </a:prstGeom>
        </p:spPr>
      </p:pic>
      <p:sp>
        <p:nvSpPr>
          <p:cNvPr id="59" name="Text 27"/>
          <p:cNvSpPr txBox="1"/>
          <p:nvPr>
            <p:custDataLst>
              <p:tags r:id="rId17"/>
            </p:custDataLst>
          </p:nvPr>
        </p:nvSpPr>
        <p:spPr>
          <a:xfrm>
            <a:off x="4798250" y="1315527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External interference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sp>
        <p:nvSpPr>
          <p:cNvPr id="60" name="Text 27"/>
          <p:cNvSpPr txBox="1"/>
          <p:nvPr>
            <p:custDataLst>
              <p:tags r:id="rId18"/>
            </p:custDataLst>
          </p:nvPr>
        </p:nvSpPr>
        <p:spPr>
          <a:xfrm>
            <a:off x="5284660" y="1320607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Task 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Update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cxnSp>
        <p:nvCxnSpPr>
          <p:cNvPr id="62" name="曲线连接符 61"/>
          <p:cNvCxnSpPr>
            <a:stCxn id="7" idx="2"/>
            <a:endCxn id="14" idx="0"/>
          </p:cNvCxnSpPr>
          <p:nvPr/>
        </p:nvCxnSpPr>
        <p:spPr>
          <a:xfrm rot="5400000">
            <a:off x="2679890" y="1144712"/>
            <a:ext cx="370205" cy="3175"/>
          </a:xfrm>
          <a:prstGeom prst="curvedConnector3">
            <a:avLst>
              <a:gd name="adj1" fmla="val 50086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3" name="曲线连接符 62"/>
          <p:cNvCxnSpPr>
            <a:stCxn id="11" idx="3"/>
            <a:endCxn id="14" idx="1"/>
          </p:cNvCxnSpPr>
          <p:nvPr/>
        </p:nvCxnSpPr>
        <p:spPr>
          <a:xfrm>
            <a:off x="1604010" y="720090"/>
            <a:ext cx="494030" cy="798830"/>
          </a:xfrm>
          <a:prstGeom prst="curvedConnector3">
            <a:avLst>
              <a:gd name="adj1" fmla="val 50000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曲线连接符 63"/>
          <p:cNvCxnSpPr>
            <a:stCxn id="17" idx="1"/>
            <a:endCxn id="14" idx="3"/>
          </p:cNvCxnSpPr>
          <p:nvPr/>
        </p:nvCxnSpPr>
        <p:spPr>
          <a:xfrm rot="10800000" flipV="1">
            <a:off x="3630930" y="730885"/>
            <a:ext cx="560705" cy="788035"/>
          </a:xfrm>
          <a:prstGeom prst="curvedConnector3">
            <a:avLst>
              <a:gd name="adj1" fmla="val 49943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曲线连接符 68"/>
          <p:cNvCxnSpPr>
            <a:stCxn id="30" idx="0"/>
            <a:endCxn id="17" idx="2"/>
          </p:cNvCxnSpPr>
          <p:nvPr/>
        </p:nvCxnSpPr>
        <p:spPr>
          <a:xfrm rot="16200000">
            <a:off x="4509135" y="959485"/>
            <a:ext cx="354330" cy="358140"/>
          </a:xfrm>
          <a:prstGeom prst="curvedConnector3">
            <a:avLst>
              <a:gd name="adj1" fmla="val 50000"/>
            </a:avLst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0" name="曲线连接符 69"/>
          <p:cNvCxnSpPr>
            <a:stCxn id="59" idx="0"/>
          </p:cNvCxnSpPr>
          <p:nvPr/>
        </p:nvCxnSpPr>
        <p:spPr>
          <a:xfrm rot="16200000" flipV="1">
            <a:off x="4766310" y="1061720"/>
            <a:ext cx="352425" cy="155575"/>
          </a:xfrm>
          <a:prstGeom prst="curvedConnector3">
            <a:avLst>
              <a:gd name="adj1" fmla="val 49910"/>
            </a:avLst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1" name="曲线连接符 70"/>
          <p:cNvCxnSpPr>
            <a:stCxn id="60" idx="0"/>
          </p:cNvCxnSpPr>
          <p:nvPr/>
        </p:nvCxnSpPr>
        <p:spPr>
          <a:xfrm rot="16200000" flipV="1">
            <a:off x="5006975" y="820420"/>
            <a:ext cx="357505" cy="642620"/>
          </a:xfrm>
          <a:prstGeom prst="curvedConnector2">
            <a:avLst/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6" name="Rounded Rectangular Callout 75"/>
          <p:cNvSpPr/>
          <p:nvPr>
            <p:custDataLst>
              <p:tags r:id="rId19"/>
            </p:custDataLst>
          </p:nvPr>
        </p:nvSpPr>
        <p:spPr>
          <a:xfrm rot="10320000" flipH="1">
            <a:off x="2291080" y="3674110"/>
            <a:ext cx="1083310" cy="483870"/>
          </a:xfrm>
          <a:prstGeom prst="cloudCallout">
            <a:avLst>
              <a:gd name="adj1" fmla="val -48987"/>
              <a:gd name="adj2" fmla="val 90329"/>
            </a:avLst>
          </a:prstGeom>
          <a:solidFill>
            <a:srgbClr val="F9F9F9"/>
          </a:solidFill>
          <a:ln w="8890">
            <a:solidFill>
              <a:srgbClr val="8E9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rIns="64008" bIns="41148" rtlCol="0" anchor="ctr"/>
          <a:p>
            <a:pPr algn="ctr">
              <a:spcBef>
                <a:spcPts val="0"/>
              </a:spcBef>
              <a:spcAft>
                <a:spcPts val="0"/>
              </a:spcAft>
            </a:pPr>
            <a:endParaRPr sz="870" b="0" i="1">
              <a:solidFill>
                <a:srgbClr val="42464C"/>
              </a:solidFill>
              <a:latin typeface="Arial" panose="020B0604020202090204"/>
            </a:endParaRPr>
          </a:p>
        </p:txBody>
      </p:sp>
      <p:sp>
        <p:nvSpPr>
          <p:cNvPr id="72" name="矩形 71"/>
          <p:cNvSpPr/>
          <p:nvPr/>
        </p:nvSpPr>
        <p:spPr>
          <a:xfrm rot="480000">
            <a:off x="3657790" y="3550727"/>
            <a:ext cx="1948815" cy="281305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p>
            <a:pPr lvl="0" algn="ctr">
              <a:buClrTx/>
              <a:buSzTx/>
              <a:buFontTx/>
            </a:pP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Downstream Suction </a:t>
            </a:r>
            <a:endParaRPr lang="en-US" altLang="zh-CN" sz="800" b="1" i="1">
              <a:solidFill>
                <a:schemeClr val="bg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altLang="zh-CN" sz="800" b="1" i="1">
                <a:solidFill>
                  <a:srgbClr val="FFC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additionally</a:t>
            </a: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 holds cola can</a:t>
            </a:r>
            <a:r>
              <a:rPr lang="en-US" altLang="zh-CN" sz="800" b="1" i="1">
                <a:solidFill>
                  <a:schemeClr val="accent4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 </a:t>
            </a:r>
            <a:endParaRPr lang="en-US" altLang="zh-CN" sz="800" b="1" i="1">
              <a:solidFill>
                <a:schemeClr val="accent4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  <a:sym typeface="+mn-ea"/>
            </a:endParaRPr>
          </a:p>
        </p:txBody>
      </p:sp>
      <p:sp>
        <p:nvSpPr>
          <p:cNvPr id="26" name="矩形 25"/>
          <p:cNvSpPr/>
          <p:nvPr/>
        </p:nvSpPr>
        <p:spPr>
          <a:xfrm rot="20880000">
            <a:off x="2280285" y="3692525"/>
            <a:ext cx="1180465" cy="394335"/>
          </a:xfrm>
          <a:prstGeom prst="rect">
            <a:avLst/>
          </a:prstGeom>
          <a:noFill/>
          <a:ln>
            <a:noFill/>
          </a:ln>
          <a:effectLst>
            <a:glow rad="1663700">
              <a:schemeClr val="accent1">
                <a:alpha val="40000"/>
              </a:schemeClr>
            </a:glow>
          </a:effectLst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altLang="zh-CN" sz="1000" i="1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sym typeface="+mn-ea"/>
            </a:endParaRPr>
          </a:p>
        </p:txBody>
      </p:sp>
      <p:sp>
        <p:nvSpPr>
          <p:cNvPr id="73" name="矩形 72"/>
          <p:cNvSpPr/>
          <p:nvPr>
            <p:custDataLst>
              <p:tags r:id="rId20"/>
            </p:custDataLst>
          </p:nvPr>
        </p:nvSpPr>
        <p:spPr>
          <a:xfrm rot="480000">
            <a:off x="361950" y="2839720"/>
            <a:ext cx="905510" cy="233045"/>
          </a:xfrm>
          <a:prstGeom prst="rect">
            <a:avLst/>
          </a:prstGeom>
          <a:noFill/>
          <a:ln>
            <a:noFill/>
          </a:ln>
          <a:effectLst>
            <a:outerShdw blurRad="50800" dist="38100" dir="5400000" sx="125000" sy="125000" algn="t" rotWithShape="0">
              <a:schemeClr val="bg1">
                <a:alpha val="55000"/>
              </a:schemeClr>
            </a:outerShdw>
          </a:effectLst>
        </p:spPr>
        <p:txBody>
          <a:bodyPr wrap="none" lIns="91440" tIns="45720" rIns="91440" bIns="45720" rtlCol="0" anchor="t">
            <a:no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p>
            <a:pPr lvl="0" algn="ctr">
              <a:buClrTx/>
              <a:buSzTx/>
              <a:buFontTx/>
            </a:pP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Up</a:t>
            </a: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stream Suction </a:t>
            </a:r>
            <a:endParaRPr lang="en-US" altLang="zh-CN" sz="800" b="1" i="1">
              <a:solidFill>
                <a:schemeClr val="bg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pick up</a:t>
            </a:r>
            <a:r>
              <a:rPr lang="en-US" altLang="zh-CN" sz="800" b="1" i="1"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 </a:t>
            </a:r>
            <a:r>
              <a:rPr lang="en-US" altLang="zh-CN" sz="800" b="1" i="1">
                <a:solidFill>
                  <a:srgbClr val="FFFF00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fallen</a:t>
            </a:r>
            <a:r>
              <a:rPr lang="en-US" altLang="zh-CN" sz="800" b="1" i="1">
                <a:solidFill>
                  <a:srgbClr val="D45774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 </a:t>
            </a: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cola</a:t>
            </a:r>
            <a:r>
              <a:rPr lang="en-US" altLang="zh-CN" sz="800" b="1" i="1">
                <a:solidFill>
                  <a:schemeClr val="bg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  <a:sym typeface="+mn-ea"/>
              </a:rPr>
              <a:t> </a:t>
            </a:r>
            <a:endParaRPr lang="en-US" altLang="zh-CN" sz="800" b="1" i="1">
              <a:solidFill>
                <a:schemeClr val="bg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  <a:sym typeface="+mn-ea"/>
            </a:endParaRPr>
          </a:p>
        </p:txBody>
      </p:sp>
      <p:sp>
        <p:nvSpPr>
          <p:cNvPr id="2" name="Right Arrow 71"/>
          <p:cNvSpPr/>
          <p:nvPr>
            <p:custDataLst>
              <p:tags r:id="rId21"/>
            </p:custDataLst>
          </p:nvPr>
        </p:nvSpPr>
        <p:spPr>
          <a:xfrm rot="480000">
            <a:off x="2679192" y="3044952"/>
            <a:ext cx="960120" cy="118872"/>
          </a:xfrm>
          <a:prstGeom prst="rightArrow">
            <a:avLst>
              <a:gd name="adj1" fmla="val 28000"/>
              <a:gd name="adj2" fmla="val 70000"/>
            </a:avLst>
          </a:prstGeom>
          <a:solidFill>
            <a:srgbClr val="375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1" name="TextBox 72"/>
          <p:cNvSpPr txBox="1"/>
          <p:nvPr>
            <p:custDataLst>
              <p:tags r:id="rId22"/>
            </p:custDataLst>
          </p:nvPr>
        </p:nvSpPr>
        <p:spPr>
          <a:xfrm rot="480000">
            <a:off x="2596896" y="2825496"/>
            <a:ext cx="12344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375687"/>
                </a:solidFill>
                <a:latin typeface="Arial" panose="020B0604020202090204"/>
              </a:rPr>
              <a:t>Conveyor Moving</a:t>
            </a:r>
            <a:endParaRPr sz="1040" b="1" i="0">
              <a:solidFill>
                <a:srgbClr val="375687"/>
              </a:solidFill>
              <a:latin typeface="Arial" panose="020B0604020202090204"/>
            </a:endParaRPr>
          </a:p>
        </p:txBody>
      </p:sp>
      <p:sp>
        <p:nvSpPr>
          <p:cNvPr id="33" name="文本框 32"/>
          <p:cNvSpPr txBox="1"/>
          <p:nvPr/>
        </p:nvSpPr>
        <p:spPr>
          <a:xfrm rot="21300000">
            <a:off x="2440305" y="3723640"/>
            <a:ext cx="1242695" cy="3581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sz="870" i="1">
                <a:solidFill>
                  <a:srgbClr val="42464C"/>
                </a:solidFill>
                <a:latin typeface="Arial" panose="020B0604020202090204"/>
                <a:sym typeface="+mn-ea"/>
              </a:rPr>
              <a:t>Sorry for
dropping that～</a:t>
            </a:r>
            <a:endParaRPr sz="870" i="1">
              <a:solidFill>
                <a:srgbClr val="42464C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601</Words>
  <Application>WPS 演示</Application>
  <PresentationFormat>On-screen Show (16:9)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0" baseType="lpstr">
      <vt:lpstr>Arial</vt:lpstr>
      <vt:lpstr>宋体</vt:lpstr>
      <vt:lpstr>Wingdings</vt:lpstr>
      <vt:lpstr>Arimo</vt:lpstr>
      <vt:lpstr>苹方-简</vt:lpstr>
      <vt:lpstr>Arimo</vt:lpstr>
      <vt:lpstr>Arimo</vt:lpstr>
      <vt:lpstr>Calibri</vt:lpstr>
      <vt:lpstr>Helvetica Neue</vt:lpstr>
      <vt:lpstr>等线</vt:lpstr>
      <vt:lpstr>汉仪中等线KW</vt:lpstr>
      <vt:lpstr>微软雅黑</vt:lpstr>
      <vt:lpstr>汉仪旗黑</vt:lpstr>
      <vt:lpstr>宋体</vt:lpstr>
      <vt:lpstr>Arial Unicode MS</vt:lpstr>
      <vt:lpstr>汉仪书宋二KW</vt:lpstr>
      <vt:lpstr>Arial</vt:lpstr>
      <vt:lpstr>Arial Bold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1 — Role-Shared Semantic Coordination</dc:title>
  <dc:creator>OpenAI</dc:creator>
  <dc:subject>Editable conversion of Figure 1</dc:subject>
  <cp:lastModifiedBy>薛建阳</cp:lastModifiedBy>
  <cp:revision>34</cp:revision>
  <dcterms:created xsi:type="dcterms:W3CDTF">2026-09-07T04:43:02Z</dcterms:created>
  <dcterms:modified xsi:type="dcterms:W3CDTF">2026-09-07T04:43:02Z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9A547A133095D53DADF3976AB272D24E_43</vt:lpwstr>
  </property>
  <property fmtid="{D5CDD505-2E9C-101B-9397-08002B2CF9AE}" pid="3" name="KSOProductBuildVer">
    <vt:lpwstr>2052-6.6.1.8808</vt:lpwstr>
  </property>
</Properties>
</file>