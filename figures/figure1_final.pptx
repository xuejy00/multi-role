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</p:sldIdLst>
  <p:sldSz cx="5759450" cy="47879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572699" y="1143000"/>
            <a:ext cx="3712602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575945" rtl="0" eaLnBrk="1" latinLnBrk="0" hangingPunct="1">
        <a:spcBef>
          <a:spcPct val="0"/>
        </a:spcBef>
        <a:buNone/>
        <a:defRPr sz="277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5900" indent="-215900" algn="l" defTabSz="575945" rtl="0" eaLnBrk="1" latinLnBrk="0" hangingPunct="1">
        <a:spcBef>
          <a:spcPts val="60"/>
        </a:spcBef>
        <a:buFont typeface="Arial" panose="020B0604020202090204" pitchFamily="34" charset="0"/>
        <a:buChar char="•"/>
        <a:defRPr sz="2015" kern="1200">
          <a:solidFill>
            <a:schemeClr val="tx1"/>
          </a:solidFill>
          <a:latin typeface="+mn-lt"/>
          <a:ea typeface="+mn-ea"/>
          <a:cs typeface="+mn-cs"/>
        </a:defRPr>
      </a:lvl1pPr>
      <a:lvl2pPr marL="467995" indent="-179705" algn="l" defTabSz="575945" rtl="0" eaLnBrk="1" latinLnBrk="0" hangingPunct="1">
        <a:spcBef>
          <a:spcPts val="60"/>
        </a:spcBef>
        <a:buFont typeface="Arial" panose="020B0604020202090204" pitchFamily="34" charset="0"/>
        <a:buChar char="–"/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•"/>
        <a:defRPr sz="1510" kern="1200">
          <a:solidFill>
            <a:schemeClr val="tx1"/>
          </a:solidFill>
          <a:latin typeface="+mn-lt"/>
          <a:ea typeface="+mn-ea"/>
          <a:cs typeface="+mn-cs"/>
        </a:defRPr>
      </a:lvl3pPr>
      <a:lvl4pPr marL="1007745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–"/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96035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»"/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583690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871980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447925" indent="-144145" algn="l" defTabSz="575945" rtl="0" eaLnBrk="1" latinLnBrk="0" hangingPunct="1">
        <a:spcBef>
          <a:spcPts val="60"/>
        </a:spcBef>
        <a:buFont typeface="Arial" panose="020B060402020209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1pPr>
      <a:lvl2pPr marL="28829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2pPr>
      <a:lvl3pPr marL="575945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3pPr>
      <a:lvl4pPr marL="864235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4pPr>
      <a:lvl5pPr marL="115189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5pPr>
      <a:lvl6pPr marL="144018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6pPr>
      <a:lvl7pPr marL="1727835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7pPr>
      <a:lvl8pPr marL="2016125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8pPr>
      <a:lvl9pPr marL="2303780" algn="l" defTabSz="575945" rtl="0" eaLnBrk="1" latinLnBrk="0" hangingPunct="1">
        <a:defRPr sz="11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3.xml"/><Relationship Id="rId7" Type="http://schemas.openxmlformats.org/officeDocument/2006/relationships/image" Target="../media/image5.png"/><Relationship Id="rId6" Type="http://schemas.openxmlformats.org/officeDocument/2006/relationships/tags" Target="../tags/tag2.xml"/><Relationship Id="rId5" Type="http://schemas.openxmlformats.org/officeDocument/2006/relationships/image" Target="../media/image4.png"/><Relationship Id="rId4" Type="http://schemas.openxmlformats.org/officeDocument/2006/relationships/tags" Target="../tags/tag1.xml"/><Relationship Id="rId3" Type="http://schemas.openxmlformats.org/officeDocument/2006/relationships/image" Target="../media/image3.png"/><Relationship Id="rId21" Type="http://schemas.openxmlformats.org/officeDocument/2006/relationships/notesSlide" Target="../notesSlides/notesSlide1.xml"/><Relationship Id="rId20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9" Type="http://schemas.openxmlformats.org/officeDocument/2006/relationships/tags" Target="../tags/tag11.xml"/><Relationship Id="rId18" Type="http://schemas.openxmlformats.org/officeDocument/2006/relationships/tags" Target="../tags/tag10.xml"/><Relationship Id="rId17" Type="http://schemas.openxmlformats.org/officeDocument/2006/relationships/tags" Target="../tags/tag9.xml"/><Relationship Id="rId16" Type="http://schemas.openxmlformats.org/officeDocument/2006/relationships/image" Target="../media/image8.png"/><Relationship Id="rId15" Type="http://schemas.openxmlformats.org/officeDocument/2006/relationships/tags" Target="../tags/tag8.xml"/><Relationship Id="rId14" Type="http://schemas.openxmlformats.org/officeDocument/2006/relationships/tags" Target="../tags/tag7.xml"/><Relationship Id="rId13" Type="http://schemas.openxmlformats.org/officeDocument/2006/relationships/tags" Target="../tags/tag6.xml"/><Relationship Id="rId12" Type="http://schemas.openxmlformats.org/officeDocument/2006/relationships/tags" Target="../tags/tag5.xml"/><Relationship Id="rId11" Type="http://schemas.openxmlformats.org/officeDocument/2006/relationships/tags" Target="../tags/tag4.xml"/><Relationship Id="rId10" Type="http://schemas.openxmlformats.org/officeDocument/2006/relationships/image" Target="../media/image7.pn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2bdea198cef4ac19e4d7f0e97a03116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137285"/>
            <a:ext cx="5616575" cy="3650615"/>
          </a:xfrm>
          <a:prstGeom prst="rect">
            <a:avLst/>
          </a:prstGeom>
        </p:spPr>
      </p:pic>
      <p:sp>
        <p:nvSpPr>
          <p:cNvPr id="4" name="左弧形箭头 3"/>
          <p:cNvSpPr/>
          <p:nvPr/>
        </p:nvSpPr>
        <p:spPr>
          <a:xfrm flipH="1">
            <a:off x="5335270" y="2424430"/>
            <a:ext cx="395605" cy="1631950"/>
          </a:xfrm>
          <a:prstGeom prst="curvedRightArrow">
            <a:avLst>
              <a:gd name="adj1" fmla="val 25000"/>
              <a:gd name="adj2" fmla="val 49913"/>
              <a:gd name="adj3" fmla="val 25000"/>
            </a:avLst>
          </a:prstGeom>
          <a:solidFill>
            <a:schemeClr val="accent1">
              <a:lumMod val="60000"/>
              <a:lumOff val="40000"/>
              <a:alpha val="65000"/>
            </a:schemeClr>
          </a:solidFill>
          <a:ln w="28575" cap="sq" cmpd="sng">
            <a:noFill/>
            <a:prstDash val="solid"/>
            <a:round/>
            <a:headEnd type="none"/>
            <a:tailEnd type="triangle" w="sm" len="sm"/>
          </a:ln>
          <a:effectLst>
            <a:outerShdw blurRad="50800" dist="38100" dir="5400000" algn="t" rotWithShape="0">
              <a:schemeClr val="accent5">
                <a:lumMod val="75000"/>
                <a:alpha val="98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3" name="图片 2" descr="截屏2026-09-02 18.57.5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555" y="2247265"/>
            <a:ext cx="457200" cy="394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864040" y="440497"/>
            <a:ext cx="1270" cy="174625"/>
          </a:xfrm>
          <a:prstGeom prst="line">
            <a:avLst/>
          </a:prstGeom>
          <a:noFill/>
          <a:ln w="16510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7" name="Shape 4"/>
          <p:cNvSpPr/>
          <p:nvPr/>
        </p:nvSpPr>
        <p:spPr>
          <a:xfrm>
            <a:off x="1872170" y="622107"/>
            <a:ext cx="1985645" cy="338455"/>
          </a:xfrm>
          <a:prstGeom prst="roundRect">
            <a:avLst>
              <a:gd name="adj" fmla="val 13333"/>
            </a:avLst>
          </a:prstGeom>
          <a:solidFill>
            <a:srgbClr val="F3F7FC"/>
          </a:solidFill>
          <a:ln w="13970">
            <a:solidFill>
              <a:srgbClr val="5D88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954285" y="693981"/>
            <a:ext cx="1820915" cy="12345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0000"/>
          </a:bodyPr>
          <a:lstStyle/>
          <a:p>
            <a:pPr marL="0" indent="0" algn="ctr">
              <a:buNone/>
            </a:pPr>
            <a:r>
              <a:rPr lang="en-US" sz="790" b="1" dirty="0">
                <a:solidFill>
                  <a:srgbClr val="164A8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Planning Role</a:t>
            </a:r>
            <a:endParaRPr lang="en-US" sz="790" dirty="0"/>
          </a:p>
        </p:txBody>
      </p:sp>
      <p:sp>
        <p:nvSpPr>
          <p:cNvPr id="9" name="Text 6"/>
          <p:cNvSpPr txBox="1"/>
          <p:nvPr/>
        </p:nvSpPr>
        <p:spPr>
          <a:xfrm>
            <a:off x="1943997" y="816798"/>
            <a:ext cx="1851778" cy="102877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Plan tasks and assign heterogeneous executors.</a:t>
            </a:r>
            <a:endParaRPr lang="en-US" sz="600" dirty="0"/>
          </a:p>
        </p:txBody>
      </p:sp>
      <p:sp>
        <p:nvSpPr>
          <p:cNvPr id="11" name="Shape 8"/>
          <p:cNvSpPr/>
          <p:nvPr/>
        </p:nvSpPr>
        <p:spPr>
          <a:xfrm>
            <a:off x="235775" y="861502"/>
            <a:ext cx="1368425" cy="446405"/>
          </a:xfrm>
          <a:prstGeom prst="roundRect">
            <a:avLst>
              <a:gd name="adj" fmla="val 10256"/>
            </a:avLst>
          </a:prstGeom>
          <a:solidFill>
            <a:srgbClr val="F5FAF3"/>
          </a:solidFill>
          <a:ln w="13970">
            <a:solidFill>
              <a:srgbClr val="6A916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23002" y="942675"/>
            <a:ext cx="1203656" cy="1131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86E29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Affordance Role</a:t>
            </a:r>
            <a:endParaRPr lang="en-US" sz="700" b="1" dirty="0">
              <a:solidFill>
                <a:srgbClr val="286E29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312779" y="1086511"/>
            <a:ext cx="1213943" cy="18003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Interpret objects, relations,</a:t>
            </a:r>
            <a:endParaRPr lang="en-US" sz="600" dirty="0"/>
          </a:p>
          <a:p>
            <a:pPr marL="0" indent="0" algn="ctr">
              <a:buNone/>
            </a:pP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and affordances.</a:t>
            </a:r>
            <a:endParaRPr lang="en-US" sz="600" i="1" dirty="0">
              <a:solidFill>
                <a:srgbClr val="111111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2098230" y="1330767"/>
            <a:ext cx="1532890" cy="375920"/>
          </a:xfrm>
          <a:prstGeom prst="roundRect">
            <a:avLst>
              <a:gd name="adj" fmla="val 12121"/>
            </a:avLst>
          </a:prstGeom>
          <a:solidFill>
            <a:srgbClr val="F6F2FB"/>
          </a:solidFill>
          <a:ln w="13970">
            <a:solidFill>
              <a:srgbClr val="7763A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175469" y="1418102"/>
            <a:ext cx="1378546" cy="1183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5" b="1" dirty="0">
                <a:solidFill>
                  <a:srgbClr val="5A2B89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Shared Semantic State</a:t>
            </a:r>
            <a:endParaRPr lang="en-US" sz="725" dirty="0"/>
          </a:p>
        </p:txBody>
      </p:sp>
      <p:sp>
        <p:nvSpPr>
          <p:cNvPr id="16" name="Text 13"/>
          <p:cNvSpPr txBox="1"/>
          <p:nvPr/>
        </p:nvSpPr>
        <p:spPr>
          <a:xfrm>
            <a:off x="2165182" y="1536410"/>
            <a:ext cx="1399121" cy="9773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shared task and scene understanding</a:t>
            </a:r>
            <a:endParaRPr lang="en-US" sz="600" i="1" dirty="0">
              <a:solidFill>
                <a:srgbClr val="111111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192460" y="868487"/>
            <a:ext cx="1347470" cy="461645"/>
          </a:xfrm>
          <a:prstGeom prst="roundRect">
            <a:avLst>
              <a:gd name="adj" fmla="val 10256"/>
            </a:avLst>
          </a:prstGeom>
          <a:solidFill>
            <a:srgbClr val="FFF9F0"/>
          </a:solidFill>
          <a:ln w="13970">
            <a:solidFill>
              <a:srgbClr val="D08A1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274964" y="954105"/>
            <a:ext cx="1213943" cy="1131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9A5A0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Verification Role</a:t>
            </a:r>
            <a:endParaRPr lang="en-US" sz="700" b="1" dirty="0">
              <a:solidFill>
                <a:srgbClr val="9A5A00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19" name="Text 16"/>
          <p:cNvSpPr txBox="1"/>
          <p:nvPr/>
        </p:nvSpPr>
        <p:spPr>
          <a:xfrm>
            <a:off x="4285252" y="1108736"/>
            <a:ext cx="1193368" cy="18003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58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Interpret execution evidence</a:t>
            </a:r>
            <a:endParaRPr lang="en-US" sz="585" dirty="0"/>
          </a:p>
          <a:p>
            <a:pPr marL="0" indent="0" algn="ctr">
              <a:buNone/>
            </a:pPr>
            <a:r>
              <a:rPr lang="en-US" sz="58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and task progress.</a:t>
            </a:r>
            <a:endParaRPr lang="en-US" sz="585" dirty="0"/>
          </a:p>
        </p:txBody>
      </p:sp>
      <p:sp>
        <p:nvSpPr>
          <p:cNvPr id="22" name="Shape 19"/>
          <p:cNvSpPr/>
          <p:nvPr/>
        </p:nvSpPr>
        <p:spPr>
          <a:xfrm>
            <a:off x="2864742" y="1711300"/>
            <a:ext cx="0" cy="200609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2252627" y="1917053"/>
            <a:ext cx="1213943" cy="298342"/>
          </a:xfrm>
          <a:prstGeom prst="roundRect">
            <a:avLst>
              <a:gd name="adj" fmla="val 13793"/>
            </a:avLst>
          </a:prstGeom>
          <a:solidFill>
            <a:srgbClr val="FBFBFB"/>
          </a:solidFill>
          <a:ln w="13970">
            <a:solidFill>
              <a:srgbClr val="91989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319496" y="1953060"/>
            <a:ext cx="1080204" cy="1183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Execution directive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2345216" y="2076512"/>
            <a:ext cx="1028765" cy="8744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Robot Arm </a:t>
            </a: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· </a:t>
            </a:r>
            <a:r>
              <a:rPr lang="en-US" sz="600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Primitive Skill</a:t>
            </a:r>
            <a:endParaRPr lang="en-US" sz="600" i="1" dirty="0">
              <a:solidFill>
                <a:srgbClr val="111111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405368" y="1585462"/>
            <a:ext cx="956752" cy="180034"/>
          </a:xfrm>
          <a:prstGeom prst="roundRect">
            <a:avLst>
              <a:gd name="adj" fmla="val 22857"/>
            </a:avLst>
          </a:prstGeom>
          <a:solidFill>
            <a:srgbClr val="F5FAF3"/>
          </a:solidFill>
          <a:ln w="13970">
            <a:solidFill>
              <a:srgbClr val="6A916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46454" y="1626421"/>
            <a:ext cx="884738" cy="11316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2F7C2B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Scene observation</a:t>
            </a:r>
            <a:endParaRPr lang="en-US" sz="600" b="1" dirty="0">
              <a:solidFill>
                <a:srgbClr val="2F7C2B"/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30" name="Text 27"/>
          <p:cNvSpPr txBox="1"/>
          <p:nvPr/>
        </p:nvSpPr>
        <p:spPr>
          <a:xfrm>
            <a:off x="4285170" y="1684462"/>
            <a:ext cx="445770" cy="2159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Execution 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  <a:p>
            <a:pPr marL="0" indent="0" algn="ctr">
              <a:buNone/>
            </a:pPr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evidence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sp>
        <p:nvSpPr>
          <p:cNvPr id="31" name="Shape 28"/>
          <p:cNvSpPr/>
          <p:nvPr/>
        </p:nvSpPr>
        <p:spPr>
          <a:xfrm rot="10800000">
            <a:off x="888887" y="1307695"/>
            <a:ext cx="0" cy="277767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 rot="10800000">
            <a:off x="883807" y="1780736"/>
            <a:ext cx="0" cy="293198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  <a:tailEnd type="triangle"/>
          </a:ln>
        </p:spPr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5480" y="95692"/>
            <a:ext cx="186690" cy="215900"/>
          </a:xfrm>
          <a:prstGeom prst="rect">
            <a:avLst/>
          </a:prstGeom>
        </p:spPr>
      </p:pic>
      <p:sp>
        <p:nvSpPr>
          <p:cNvPr id="38" name="矩形标注 37"/>
          <p:cNvSpPr/>
          <p:nvPr/>
        </p:nvSpPr>
        <p:spPr>
          <a:xfrm rot="5400000">
            <a:off x="2710370" y="-624398"/>
            <a:ext cx="375920" cy="1753235"/>
          </a:xfrm>
          <a:prstGeom prst="wedgeRectCallout">
            <a:avLst>
              <a:gd name="adj1" fmla="val -13766"/>
              <a:gd name="adj2" fmla="val 56066"/>
            </a:avLst>
          </a:prstGeom>
          <a:solidFill>
            <a:srgbClr val="FFFDF9"/>
          </a:solidFill>
          <a:ln w="13970">
            <a:solidFill>
              <a:srgbClr val="9A8F80"/>
            </a:solidFill>
            <a:prstDash val="solid"/>
          </a:ln>
        </p:spPr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40" name="Text 2"/>
          <p:cNvSpPr txBox="1"/>
          <p:nvPr>
            <p:custDataLst>
              <p:tags r:id="rId4"/>
            </p:custDataLst>
          </p:nvPr>
        </p:nvSpPr>
        <p:spPr>
          <a:xfrm>
            <a:off x="2114740" y="157287"/>
            <a:ext cx="1650365" cy="32385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lvl="0" algn="ctr">
              <a:buClrTx/>
              <a:buSzTx/>
              <a:buFontTx/>
            </a:pP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“</a:t>
            </a: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I need two bottles of cola in the basket</a:t>
            </a:r>
            <a:endParaRPr lang="en-US" sz="625" i="1" dirty="0">
              <a:solidFill>
                <a:srgbClr val="111111"/>
              </a:solidFill>
              <a:latin typeface="Arimo" pitchFamily="34" charset="0"/>
              <a:ea typeface="Arimo" pitchFamily="34" charset="-122"/>
              <a:cs typeface="Arimo" pitchFamily="34" charset="-120"/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and</a:t>
            </a: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 clear the right table.”</a:t>
            </a: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  </a:t>
            </a:r>
            <a:endParaRPr lang="en-US" sz="625" i="1" dirty="0">
              <a:solidFill>
                <a:srgbClr val="111111"/>
              </a:solidFill>
              <a:latin typeface="Arimo" pitchFamily="34" charset="0"/>
              <a:ea typeface="Arimo" pitchFamily="34" charset="-122"/>
              <a:cs typeface="Arimo" pitchFamily="34" charset="-120"/>
              <a:sym typeface="+mn-ea"/>
            </a:endParaRPr>
          </a:p>
        </p:txBody>
      </p:sp>
      <p:pic>
        <p:nvPicPr>
          <p:cNvPr id="41" name="图片 40" descr="camer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285" y="2071177"/>
            <a:ext cx="246380" cy="246380"/>
          </a:xfrm>
          <a:prstGeom prst="rect">
            <a:avLst/>
          </a:prstGeom>
        </p:spPr>
      </p:pic>
      <p:sp>
        <p:nvSpPr>
          <p:cNvPr id="42" name="Text 5"/>
          <p:cNvSpPr txBox="1"/>
          <p:nvPr>
            <p:custDataLst>
              <p:tags r:id="rId6"/>
            </p:custDataLst>
          </p:nvPr>
        </p:nvSpPr>
        <p:spPr>
          <a:xfrm>
            <a:off x="1944125" y="95811"/>
            <a:ext cx="1820915" cy="12345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0000"/>
          </a:bodyPr>
          <a:p>
            <a:pPr marL="0" indent="0" algn="ctr">
              <a:buNone/>
            </a:pPr>
            <a:r>
              <a:rPr lang="en-US" sz="790" b="1" dirty="0">
                <a:solidFill>
                  <a:schemeClr val="accent4">
                    <a:lumMod val="50000"/>
                  </a:schemeClr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Task Instruction</a:t>
            </a:r>
            <a:endParaRPr lang="en-US" sz="790" b="1" dirty="0">
              <a:solidFill>
                <a:schemeClr val="accent4">
                  <a:lumMod val="50000"/>
                </a:schemeClr>
              </a:solidFill>
              <a:latin typeface="Arimo" pitchFamily="34" charset="0"/>
              <a:ea typeface="Arimo" pitchFamily="34" charset="-122"/>
              <a:cs typeface="Arimo" pitchFamily="34" charset="-120"/>
            </a:endParaRPr>
          </a:p>
        </p:txBody>
      </p:sp>
      <p:pic>
        <p:nvPicPr>
          <p:cNvPr id="44" name="图片 43" descr="robotic-arm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2485" y="1905442"/>
            <a:ext cx="231140" cy="231140"/>
          </a:xfrm>
          <a:prstGeom prst="rect">
            <a:avLst/>
          </a:prstGeom>
        </p:spPr>
      </p:pic>
      <p:pic>
        <p:nvPicPr>
          <p:cNvPr id="45" name="图片 44" descr="agents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2287460" y="629727"/>
            <a:ext cx="187325" cy="187325"/>
          </a:xfrm>
          <a:prstGeom prst="rect">
            <a:avLst/>
          </a:prstGeom>
        </p:spPr>
      </p:pic>
      <p:pic>
        <p:nvPicPr>
          <p:cNvPr id="47" name="图片 46" descr="databas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87130" y="1366962"/>
            <a:ext cx="132080" cy="151130"/>
          </a:xfrm>
          <a:prstGeom prst="rect">
            <a:avLst/>
          </a:prstGeom>
        </p:spPr>
      </p:pic>
      <p:pic>
        <p:nvPicPr>
          <p:cNvPr id="48" name="图片 47" descr="agents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4273105" y="868487"/>
            <a:ext cx="187325" cy="187325"/>
          </a:xfrm>
          <a:prstGeom prst="rect">
            <a:avLst/>
          </a:prstGeom>
        </p:spPr>
      </p:pic>
      <p:pic>
        <p:nvPicPr>
          <p:cNvPr id="49" name="图片 48" descr="agents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322770" y="868487"/>
            <a:ext cx="187325" cy="187325"/>
          </a:xfrm>
          <a:prstGeom prst="rect">
            <a:avLst/>
          </a:prstGeom>
        </p:spPr>
      </p:pic>
      <p:pic>
        <p:nvPicPr>
          <p:cNvPr id="54" name="图片 5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5414835" y="1905442"/>
            <a:ext cx="186690" cy="215900"/>
          </a:xfrm>
          <a:prstGeom prst="rect">
            <a:avLst/>
          </a:prstGeom>
        </p:spPr>
      </p:pic>
      <p:sp>
        <p:nvSpPr>
          <p:cNvPr id="55" name="矩形标注 54"/>
          <p:cNvSpPr/>
          <p:nvPr>
            <p:custDataLst>
              <p:tags r:id="rId14"/>
            </p:custDataLst>
          </p:nvPr>
        </p:nvSpPr>
        <p:spPr>
          <a:xfrm rot="10800000">
            <a:off x="4891405" y="2303145"/>
            <a:ext cx="852805" cy="338455"/>
          </a:xfrm>
          <a:prstGeom prst="wedgeRectCallout">
            <a:avLst>
              <a:gd name="adj1" fmla="val -21779"/>
              <a:gd name="adj2" fmla="val 90150"/>
            </a:avLst>
          </a:prstGeom>
          <a:solidFill>
            <a:srgbClr val="FFFDF9">
              <a:alpha val="23000"/>
            </a:srgbClr>
          </a:solidFill>
          <a:ln w="13970">
            <a:solidFill>
              <a:srgbClr val="9A8F80">
                <a:alpha val="67000"/>
              </a:srgbClr>
            </a:solidFill>
            <a:prstDash val="solid"/>
          </a:ln>
        </p:spPr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56" name="Text 2"/>
          <p:cNvSpPr txBox="1"/>
          <p:nvPr>
            <p:custDataLst>
              <p:tags r:id="rId15"/>
            </p:custDataLst>
          </p:nvPr>
        </p:nvSpPr>
        <p:spPr>
          <a:xfrm>
            <a:off x="4891405" y="2303145"/>
            <a:ext cx="868680" cy="33909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p>
            <a:pPr lvl="0" algn="ctr">
              <a:buClrTx/>
              <a:buSzTx/>
              <a:buFontTx/>
            </a:pP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“Actually I want one more can of cola.</a:t>
            </a: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”</a:t>
            </a:r>
            <a:r>
              <a:rPr lang="en-US" sz="625" i="1" dirty="0">
                <a:solidFill>
                  <a:srgbClr val="111111"/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  </a:t>
            </a:r>
            <a:endParaRPr lang="en-US" sz="625" i="1" dirty="0">
              <a:solidFill>
                <a:srgbClr val="111111"/>
              </a:solidFill>
              <a:latin typeface="Arimo" pitchFamily="34" charset="0"/>
              <a:ea typeface="Arimo" pitchFamily="34" charset="-122"/>
              <a:cs typeface="Arimo" pitchFamily="34" charset="-120"/>
              <a:sym typeface="+mn-ea"/>
            </a:endParaRPr>
          </a:p>
        </p:txBody>
      </p:sp>
      <p:pic>
        <p:nvPicPr>
          <p:cNvPr id="58" name="图片 57" descr="settings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08740" y="1913062"/>
            <a:ext cx="230505" cy="230505"/>
          </a:xfrm>
          <a:prstGeom prst="rect">
            <a:avLst/>
          </a:prstGeom>
        </p:spPr>
      </p:pic>
      <p:sp>
        <p:nvSpPr>
          <p:cNvPr id="59" name="Text 27"/>
          <p:cNvSpPr txBox="1"/>
          <p:nvPr>
            <p:custDataLst>
              <p:tags r:id="rId17"/>
            </p:custDataLst>
          </p:nvPr>
        </p:nvSpPr>
        <p:spPr>
          <a:xfrm>
            <a:off x="4798885" y="1684462"/>
            <a:ext cx="445770" cy="2159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lvl="0" algn="ctr">
              <a:buClrTx/>
              <a:buSzTx/>
              <a:buFontTx/>
            </a:pPr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External interference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Arimo" pitchFamily="34" charset="0"/>
              <a:ea typeface="Arimo" pitchFamily="34" charset="-122"/>
              <a:cs typeface="Arimo" pitchFamily="34" charset="-120"/>
              <a:sym typeface="+mn-ea"/>
            </a:endParaRPr>
          </a:p>
        </p:txBody>
      </p:sp>
      <p:sp>
        <p:nvSpPr>
          <p:cNvPr id="60" name="Text 27"/>
          <p:cNvSpPr txBox="1"/>
          <p:nvPr>
            <p:custDataLst>
              <p:tags r:id="rId18"/>
            </p:custDataLst>
          </p:nvPr>
        </p:nvSpPr>
        <p:spPr>
          <a:xfrm>
            <a:off x="5285295" y="1689542"/>
            <a:ext cx="445770" cy="2159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lvl="0" algn="ctr">
              <a:buClrTx/>
              <a:buSzTx/>
              <a:buFontTx/>
            </a:pPr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Task 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Arimo" pitchFamily="34" charset="0"/>
              <a:ea typeface="Arimo" pitchFamily="34" charset="-122"/>
              <a:cs typeface="Arimo" pitchFamily="34" charset="-120"/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Arimo" pitchFamily="34" charset="0"/>
                <a:ea typeface="Arimo" pitchFamily="34" charset="-122"/>
                <a:cs typeface="Arimo" pitchFamily="34" charset="-120"/>
                <a:sym typeface="+mn-ea"/>
              </a:rPr>
              <a:t>Update</a:t>
            </a:r>
            <a:endParaRPr lang="en-US" sz="600" b="1" dirty="0">
              <a:solidFill>
                <a:schemeClr val="tx1">
                  <a:lumMod val="50000"/>
                  <a:lumOff val="50000"/>
                </a:schemeClr>
              </a:solidFill>
              <a:latin typeface="Arimo" pitchFamily="34" charset="0"/>
              <a:ea typeface="Arimo" pitchFamily="34" charset="-122"/>
              <a:cs typeface="Arimo" pitchFamily="34" charset="-120"/>
              <a:sym typeface="+mn-ea"/>
            </a:endParaRPr>
          </a:p>
        </p:txBody>
      </p:sp>
      <p:cxnSp>
        <p:nvCxnSpPr>
          <p:cNvPr id="62" name="曲线连接符 61"/>
          <p:cNvCxnSpPr>
            <a:stCxn id="7" idx="2"/>
            <a:endCxn id="14" idx="0"/>
          </p:cNvCxnSpPr>
          <p:nvPr/>
        </p:nvCxnSpPr>
        <p:spPr>
          <a:xfrm rot="5400000">
            <a:off x="2679890" y="1144712"/>
            <a:ext cx="370205" cy="3175"/>
          </a:xfrm>
          <a:prstGeom prst="curvedConnector3">
            <a:avLst>
              <a:gd name="adj1" fmla="val 50086"/>
            </a:avLst>
          </a:prstGeom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3" name="曲线连接符 62"/>
          <p:cNvCxnSpPr>
            <a:stCxn id="11" idx="3"/>
            <a:endCxn id="14" idx="1"/>
          </p:cNvCxnSpPr>
          <p:nvPr/>
        </p:nvCxnSpPr>
        <p:spPr>
          <a:xfrm>
            <a:off x="1604200" y="1085022"/>
            <a:ext cx="494030" cy="433705"/>
          </a:xfrm>
          <a:prstGeom prst="curvedConnector3">
            <a:avLst>
              <a:gd name="adj1" fmla="val 50000"/>
            </a:avLst>
          </a:prstGeom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4" name="曲线连接符 63"/>
          <p:cNvCxnSpPr>
            <a:stCxn id="17" idx="1"/>
            <a:endCxn id="14" idx="3"/>
          </p:cNvCxnSpPr>
          <p:nvPr/>
        </p:nvCxnSpPr>
        <p:spPr>
          <a:xfrm rot="10800000" flipV="1">
            <a:off x="3630930" y="1099820"/>
            <a:ext cx="561340" cy="419100"/>
          </a:xfrm>
          <a:prstGeom prst="curvedConnector3">
            <a:avLst>
              <a:gd name="adj1" fmla="val 50000"/>
            </a:avLst>
          </a:prstGeom>
        </p:spPr>
        <p:style>
          <a:lnRef idx="2">
            <a:prstClr val="black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8" name="矩形 67"/>
          <p:cNvSpPr/>
          <p:nvPr/>
        </p:nvSpPr>
        <p:spPr>
          <a:xfrm rot="540000">
            <a:off x="2357945" y="2782377"/>
            <a:ext cx="1824355" cy="267970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en-US" altLang="zh-CN" sz="1200" b="1" i="1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  <a:alpha val="43000"/>
                    </a:srgbClr>
                  </a:outerShdw>
                </a:effectLst>
              </a:rPr>
              <a:t>Conveyor Moving</a:t>
            </a:r>
            <a:endParaRPr lang="en-US" altLang="zh-CN" sz="1200" b="1" i="1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  <a:alpha val="43000"/>
                  </a:srgbClr>
                </a:outerShdw>
              </a:effectLst>
            </a:endParaRPr>
          </a:p>
        </p:txBody>
      </p:sp>
      <p:cxnSp>
        <p:nvCxnSpPr>
          <p:cNvPr id="69" name="曲线连接符 68"/>
          <p:cNvCxnSpPr>
            <a:stCxn id="30" idx="0"/>
            <a:endCxn id="17" idx="2"/>
          </p:cNvCxnSpPr>
          <p:nvPr/>
        </p:nvCxnSpPr>
        <p:spPr>
          <a:xfrm rot="16200000">
            <a:off x="4509770" y="1328420"/>
            <a:ext cx="354330" cy="358140"/>
          </a:xfrm>
          <a:prstGeom prst="curvedConnector3">
            <a:avLst>
              <a:gd name="adj1" fmla="val 50000"/>
            </a:avLst>
          </a:prstGeom>
        </p:spPr>
        <p:style>
          <a:lnRef idx="2">
            <a:schemeClr val="accent3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0" name="曲线连接符 69"/>
          <p:cNvCxnSpPr>
            <a:stCxn id="59" idx="0"/>
          </p:cNvCxnSpPr>
          <p:nvPr/>
        </p:nvCxnSpPr>
        <p:spPr>
          <a:xfrm rot="16200000" flipV="1">
            <a:off x="4766945" y="1430655"/>
            <a:ext cx="352425" cy="155575"/>
          </a:xfrm>
          <a:prstGeom prst="curvedConnector3">
            <a:avLst>
              <a:gd name="adj1" fmla="val 49910"/>
            </a:avLst>
          </a:prstGeom>
        </p:spPr>
        <p:style>
          <a:lnRef idx="2">
            <a:schemeClr val="accent3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1" name="曲线连接符 70"/>
          <p:cNvCxnSpPr>
            <a:stCxn id="60" idx="0"/>
          </p:cNvCxnSpPr>
          <p:nvPr/>
        </p:nvCxnSpPr>
        <p:spPr>
          <a:xfrm rot="16200000" flipV="1">
            <a:off x="5007610" y="1189355"/>
            <a:ext cx="357505" cy="642620"/>
          </a:xfrm>
          <a:prstGeom prst="curvedConnector2">
            <a:avLst/>
          </a:prstGeom>
        </p:spPr>
        <p:style>
          <a:lnRef idx="2">
            <a:schemeClr val="accent3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2" name="矩形 71"/>
          <p:cNvSpPr/>
          <p:nvPr/>
        </p:nvSpPr>
        <p:spPr>
          <a:xfrm rot="480000">
            <a:off x="3700970" y="3640897"/>
            <a:ext cx="1948815" cy="281305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zh-CN" altLang="en-US" sz="800" i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</a:rPr>
              <a:t>Downstream Suction </a:t>
            </a:r>
            <a:endParaRPr lang="zh-CN" altLang="en-US" sz="800" i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  <a:lumMod val="50000"/>
                  </a:schemeClr>
                </a:outerShdw>
              </a:effectLst>
            </a:endParaRPr>
          </a:p>
          <a:p>
            <a:pPr algn="ctr"/>
            <a:r>
              <a:rPr lang="en-US" altLang="zh-CN" sz="800" i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</a:rPr>
              <a:t>additionally </a:t>
            </a:r>
            <a:r>
              <a:rPr lang="zh-CN" altLang="en-US" sz="800" i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</a:rPr>
              <a:t>holds cola can </a:t>
            </a:r>
            <a:endParaRPr lang="zh-CN" altLang="en-US" sz="800" i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  <a:lumMod val="50000"/>
                  </a:schemeClr>
                </a:outerShdw>
              </a:effectLst>
            </a:endParaRPr>
          </a:p>
        </p:txBody>
      </p:sp>
      <p:sp>
        <p:nvSpPr>
          <p:cNvPr id="73" name="矩形 72"/>
          <p:cNvSpPr/>
          <p:nvPr>
            <p:custDataLst>
              <p:tags r:id="rId19"/>
            </p:custDataLst>
          </p:nvPr>
        </p:nvSpPr>
        <p:spPr>
          <a:xfrm rot="480000">
            <a:off x="-166815" y="2822382"/>
            <a:ext cx="1948815" cy="281305"/>
          </a:xfrm>
          <a:prstGeom prst="rect">
            <a:avLst/>
          </a:prstGeom>
          <a:noFill/>
          <a:ln>
            <a:noFill/>
          </a:ln>
        </p:spPr>
        <p:txBody>
          <a:bodyPr wrap="none" rtlCol="0" anchor="t">
            <a:noAutofit/>
          </a:bodyPr>
          <a:p>
            <a:pPr algn="ctr"/>
            <a:r>
              <a:rPr lang="en-US" altLang="zh-CN" sz="800" i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</a:rPr>
              <a:t>Up</a:t>
            </a:r>
            <a:r>
              <a:rPr lang="zh-CN" altLang="en-US" sz="800" i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</a:rPr>
              <a:t>stream Suction </a:t>
            </a:r>
            <a:endParaRPr lang="zh-CN" altLang="en-US" sz="800" i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  <a:lumMod val="50000"/>
                  </a:schemeClr>
                </a:outerShdw>
              </a:effectLst>
            </a:endParaRPr>
          </a:p>
          <a:p>
            <a:pPr algn="ctr"/>
            <a:r>
              <a:rPr lang="en-US" altLang="zh-CN" sz="800" i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</a:rPr>
              <a:t>pick </a:t>
            </a:r>
            <a:r>
              <a:rPr lang="en-US" altLang="zh-CN" sz="800" i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</a:rPr>
              <a:t>up cola</a:t>
            </a:r>
            <a:r>
              <a:rPr lang="zh-CN" altLang="en-US" sz="800" i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  <a:lumMod val="50000"/>
                    </a:schemeClr>
                  </a:outerShdw>
                </a:effectLst>
              </a:rPr>
              <a:t> </a:t>
            </a:r>
            <a:endParaRPr lang="zh-CN" altLang="en-US" sz="800" i="1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  <a:lumMod val="50000"/>
                  </a:schemeClr>
                </a:outerShdw>
              </a:effectLst>
            </a:endParaRPr>
          </a:p>
        </p:txBody>
      </p:sp>
      <p:sp>
        <p:nvSpPr>
          <p:cNvPr id="5" name="燕尾形箭头 4"/>
          <p:cNvSpPr/>
          <p:nvPr/>
        </p:nvSpPr>
        <p:spPr>
          <a:xfrm rot="480000">
            <a:off x="2684970" y="2953687"/>
            <a:ext cx="935355" cy="219710"/>
          </a:xfrm>
          <a:prstGeom prst="notchedRightArrow">
            <a:avLst>
              <a:gd name="adj1" fmla="val 51405"/>
              <a:gd name="adj2" fmla="val 79240"/>
            </a:avLst>
          </a:prstGeom>
          <a:solidFill>
            <a:schemeClr val="accent1">
              <a:lumMod val="60000"/>
              <a:lumOff val="40000"/>
              <a:alpha val="71000"/>
            </a:schemeClr>
          </a:solidFill>
          <a:ln w="22225" cap="rnd" cmpd="sng">
            <a:solidFill>
              <a:schemeClr val="bg1"/>
            </a:solidFill>
            <a:prstDash val="solid"/>
            <a:round/>
            <a:headEnd type="none"/>
            <a:tailEnd type="triangle" w="sm" len="sm"/>
          </a:ln>
          <a:effectLst>
            <a:outerShdw blurRad="50800" dist="38100" dir="5400000" sx="104000" sy="104000" algn="t" rotWithShape="0">
              <a:schemeClr val="accent1">
                <a:alpha val="80000"/>
              </a:schemeClr>
            </a:outerShdw>
          </a:effectLst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0" name="云形标注 19"/>
          <p:cNvSpPr/>
          <p:nvPr/>
        </p:nvSpPr>
        <p:spPr>
          <a:xfrm rot="9900000" flipH="1">
            <a:off x="2367280" y="3640455"/>
            <a:ext cx="1107440" cy="553085"/>
          </a:xfrm>
          <a:prstGeom prst="cloudCallout">
            <a:avLst>
              <a:gd name="adj1" fmla="val -54785"/>
              <a:gd name="adj2" fmla="val 100293"/>
            </a:avLst>
          </a:prstGeom>
          <a:solidFill>
            <a:srgbClr val="FFFFFF">
              <a:alpha val="13000"/>
            </a:srgbClr>
          </a:solidFill>
          <a:ln w="12700" cap="flat" cmpd="sng">
            <a:solidFill>
              <a:schemeClr val="bg1">
                <a:lumMod val="85000"/>
              </a:schemeClr>
            </a:solidFill>
            <a:prstDash val="solid"/>
            <a:miter lim="800000"/>
            <a:headEnd type="none"/>
            <a:tailEnd type="none"/>
          </a:ln>
          <a:effectLst>
            <a:glow>
              <a:schemeClr val="accent1">
                <a:alpha val="40000"/>
              </a:schemeClr>
            </a:glow>
            <a:outerShdw blurRad="50800" dist="50800" dir="5400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3"/>
          </a:lnRef>
          <a:fillRef idx="2">
            <a:schemeClr val="accent3"/>
          </a:fillRef>
          <a:effectRef idx="0">
            <a:srgbClr val="FFFFFF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altLang="zh-CN" sz="1000" b="1" i="1"/>
          </a:p>
        </p:txBody>
      </p:sp>
      <p:sp>
        <p:nvSpPr>
          <p:cNvPr id="26" name="文本框 25"/>
          <p:cNvSpPr txBox="1"/>
          <p:nvPr/>
        </p:nvSpPr>
        <p:spPr>
          <a:xfrm rot="20880000">
            <a:off x="2422525" y="3707130"/>
            <a:ext cx="1180465" cy="39433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Autofit/>
          </a:bodyPr>
          <a:p>
            <a:r>
              <a:rPr lang="en-US" sz="930" b="1">
                <a:solidFill>
                  <a:schemeClr val="bg1"/>
                </a:solidFill>
                <a:latin typeface="Arial" panose="020B0604020202090204"/>
                <a:sym typeface="+mn-ea"/>
              </a:rPr>
              <a:t>Sorry for dropping that</a:t>
            </a:r>
            <a:r>
              <a:rPr lang="zh-CN" altLang="en-US" sz="930" b="1">
                <a:solidFill>
                  <a:schemeClr val="bg1"/>
                </a:solidFill>
                <a:latin typeface="Arial" panose="020B0604020202090204"/>
                <a:sym typeface="+mn-ea"/>
              </a:rPr>
              <a:t>～</a:t>
            </a:r>
            <a:endParaRPr lang="zh-CN" altLang="en-US" sz="930" b="1">
              <a:solidFill>
                <a:schemeClr val="bg1"/>
              </a:solidFill>
              <a:latin typeface="Arial" panose="020B0604020202090204"/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594</Words>
  <Application>WPS 演示</Application>
  <PresentationFormat>On-screen Show (16:9)</PresentationFormat>
  <Paragraphs>49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9" baseType="lpstr">
      <vt:lpstr>Arial</vt:lpstr>
      <vt:lpstr>宋体</vt:lpstr>
      <vt:lpstr>Wingdings</vt:lpstr>
      <vt:lpstr>Arimo</vt:lpstr>
      <vt:lpstr>苹方-简</vt:lpstr>
      <vt:lpstr>Arimo</vt:lpstr>
      <vt:lpstr>Arimo</vt:lpstr>
      <vt:lpstr>Arial</vt:lpstr>
      <vt:lpstr>Calibri</vt:lpstr>
      <vt:lpstr>Helvetica Neue</vt:lpstr>
      <vt:lpstr>等线</vt:lpstr>
      <vt:lpstr>汉仪中等线KW</vt:lpstr>
      <vt:lpstr>微软雅黑</vt:lpstr>
      <vt:lpstr>汉仪旗黑</vt:lpstr>
      <vt:lpstr>宋体</vt:lpstr>
      <vt:lpstr>Arial Unicode MS</vt:lpstr>
      <vt:lpstr>汉仪书宋二KW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Figure 1 — Role-Shared Semantic Coordination</dc:title>
  <dc:creator>OpenAI</dc:creator>
  <dc:subject>Editable conversion of Figure 1</dc:subject>
  <cp:lastModifiedBy>薛建阳</cp:lastModifiedBy>
  <cp:revision>29</cp:revision>
  <dcterms:created xsi:type="dcterms:W3CDTF">2026-09-04T14:56:09Z</dcterms:created>
  <dcterms:modified xsi:type="dcterms:W3CDTF">2026-09-04T14:56:09Z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9A547A133095D53DADF3976AB272D24E_43</vt:lpwstr>
  </property>
  <property fmtid="{D5CDD505-2E9C-101B-9397-08002B2CF9AE}" pid="3" name="KSOProductBuildVer">
    <vt:lpwstr>2052-6.6.1.8808</vt:lpwstr>
  </property>
</Properties>
</file>